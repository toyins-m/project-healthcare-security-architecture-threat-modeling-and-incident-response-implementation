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1" r:id="rId1"/>
  </p:sldMasterIdLst>
  <p:notesMasterIdLst>
    <p:notesMasterId r:id="rId15"/>
  </p:notesMasterIdLst>
  <p:sldIdLst>
    <p:sldId id="256" r:id="rId2"/>
    <p:sldId id="295" r:id="rId3"/>
    <p:sldId id="299" r:id="rId4"/>
    <p:sldId id="257" r:id="rId5"/>
    <p:sldId id="258" r:id="rId6"/>
    <p:sldId id="301" r:id="rId7"/>
    <p:sldId id="304" r:id="rId8"/>
    <p:sldId id="305" r:id="rId9"/>
    <p:sldId id="310" r:id="rId10"/>
    <p:sldId id="311" r:id="rId11"/>
    <p:sldId id="309" r:id="rId12"/>
    <p:sldId id="312" r:id="rId13"/>
    <p:sldId id="30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6296" autoAdjust="0"/>
  </p:normalViewPr>
  <p:slideViewPr>
    <p:cSldViewPr snapToGrid="0">
      <p:cViewPr varScale="1">
        <p:scale>
          <a:sx n="120" d="100"/>
          <a:sy n="120" d="100"/>
        </p:scale>
        <p:origin x="200" y="360"/>
      </p:cViewPr>
      <p:guideLst/>
    </p:cSldViewPr>
  </p:slideViewPr>
  <p:outlineViewPr>
    <p:cViewPr>
      <p:scale>
        <a:sx n="33" d="100"/>
        <a:sy n="33" d="100"/>
      </p:scale>
      <p:origin x="0" y="0"/>
    </p:cViewPr>
    <p:sldLst>
      <p:sld r:id="rId1" collapse="1"/>
      <p:sld r:id="rId2" collapse="1"/>
    </p:sldLst>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EF0649-FB78-495F-8F32-5034C5E3EAB5}"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US"/>
        </a:p>
      </dgm:t>
    </dgm:pt>
    <dgm:pt modelId="{66040943-C446-40DA-94C1-F6C865B3A90A}">
      <dgm:prSet/>
      <dgm:spPr/>
      <dgm:t>
        <a:bodyPr/>
        <a:lstStyle/>
        <a:p>
          <a:r>
            <a:rPr lang="en-US" dirty="0"/>
            <a:t>Introduction</a:t>
          </a:r>
        </a:p>
      </dgm:t>
    </dgm:pt>
    <dgm:pt modelId="{B0F676DA-8DF5-4A49-849E-DC8C6988C34C}" type="parTrans" cxnId="{FD024951-D1AC-4F25-BFDA-BF603A0C9D92}">
      <dgm:prSet/>
      <dgm:spPr/>
      <dgm:t>
        <a:bodyPr/>
        <a:lstStyle/>
        <a:p>
          <a:endParaRPr lang="en-US"/>
        </a:p>
      </dgm:t>
    </dgm:pt>
    <dgm:pt modelId="{845AEED7-FEE5-4482-A055-9069BFA217D5}" type="sibTrans" cxnId="{FD024951-D1AC-4F25-BFDA-BF603A0C9D92}">
      <dgm:prSet/>
      <dgm:spPr/>
      <dgm:t>
        <a:bodyPr/>
        <a:lstStyle/>
        <a:p>
          <a:endParaRPr lang="en-US"/>
        </a:p>
      </dgm:t>
    </dgm:pt>
    <dgm:pt modelId="{62A800D3-A37E-4C6B-A9C6-9DB41826E667}">
      <dgm:prSet/>
      <dgm:spPr/>
      <dgm:t>
        <a:bodyPr/>
        <a:lstStyle/>
        <a:p>
          <a:r>
            <a:rPr lang="en-US" dirty="0"/>
            <a:t>Company Background</a:t>
          </a:r>
        </a:p>
      </dgm:t>
    </dgm:pt>
    <dgm:pt modelId="{9AA3C43F-B055-452E-AEE1-267923ABF367}" type="parTrans" cxnId="{14B5E297-4536-4809-9C97-C1C1A2B11805}">
      <dgm:prSet/>
      <dgm:spPr/>
      <dgm:t>
        <a:bodyPr/>
        <a:lstStyle/>
        <a:p>
          <a:endParaRPr lang="en-US"/>
        </a:p>
      </dgm:t>
    </dgm:pt>
    <dgm:pt modelId="{E5F15EA3-F090-4529-93BA-0B1C7FCB8214}" type="sibTrans" cxnId="{14B5E297-4536-4809-9C97-C1C1A2B11805}">
      <dgm:prSet/>
      <dgm:spPr/>
      <dgm:t>
        <a:bodyPr/>
        <a:lstStyle/>
        <a:p>
          <a:endParaRPr lang="en-US"/>
        </a:p>
      </dgm:t>
    </dgm:pt>
    <dgm:pt modelId="{69FD3B59-4A31-4C3F-A50D-5916D4FC8DF4}">
      <dgm:prSet/>
      <dgm:spPr/>
      <dgm:t>
        <a:bodyPr/>
        <a:lstStyle/>
        <a:p>
          <a:r>
            <a:rPr lang="en-US"/>
            <a:t>Purpose of Data Classification Standards</a:t>
          </a:r>
        </a:p>
      </dgm:t>
    </dgm:pt>
    <dgm:pt modelId="{F3A2A96C-00ED-4DA8-8ABF-03EA44270B78}" type="parTrans" cxnId="{10D3B773-0E1F-4C00-999D-C149297923D3}">
      <dgm:prSet/>
      <dgm:spPr/>
      <dgm:t>
        <a:bodyPr/>
        <a:lstStyle/>
        <a:p>
          <a:endParaRPr lang="en-US"/>
        </a:p>
      </dgm:t>
    </dgm:pt>
    <dgm:pt modelId="{9721D3B4-9A00-4C43-AA95-DECA3E8FF566}" type="sibTrans" cxnId="{10D3B773-0E1F-4C00-999D-C149297923D3}">
      <dgm:prSet/>
      <dgm:spPr/>
      <dgm:t>
        <a:bodyPr/>
        <a:lstStyle/>
        <a:p>
          <a:endParaRPr lang="en-US"/>
        </a:p>
      </dgm:t>
    </dgm:pt>
    <dgm:pt modelId="{F064E009-06E7-4569-A36E-BFB2A8A4BC35}">
      <dgm:prSet/>
      <dgm:spPr/>
      <dgm:t>
        <a:bodyPr/>
        <a:lstStyle/>
        <a:p>
          <a:r>
            <a:rPr lang="en-US" u="none" dirty="0"/>
            <a:t>Data Categorization </a:t>
          </a:r>
        </a:p>
      </dgm:t>
    </dgm:pt>
    <dgm:pt modelId="{D0D9AA2D-4CB7-4569-87EC-B09FB8F95912}" type="parTrans" cxnId="{32597644-D5BD-4EC6-B71D-005CF3B3D7BA}">
      <dgm:prSet/>
      <dgm:spPr/>
      <dgm:t>
        <a:bodyPr/>
        <a:lstStyle/>
        <a:p>
          <a:endParaRPr lang="en-US"/>
        </a:p>
      </dgm:t>
    </dgm:pt>
    <dgm:pt modelId="{D4D5770D-0E08-4C34-BAD7-DA1C7BAD3055}" type="sibTrans" cxnId="{32597644-D5BD-4EC6-B71D-005CF3B3D7BA}">
      <dgm:prSet/>
      <dgm:spPr/>
      <dgm:t>
        <a:bodyPr/>
        <a:lstStyle/>
        <a:p>
          <a:endParaRPr lang="en-US"/>
        </a:p>
      </dgm:t>
    </dgm:pt>
    <dgm:pt modelId="{7DA29CFD-2FA0-41CA-9162-C66A334EA609}">
      <dgm:prSet/>
      <dgm:spPr/>
      <dgm:t>
        <a:bodyPr/>
        <a:lstStyle/>
        <a:p>
          <a:r>
            <a:rPr lang="en-US" dirty="0"/>
            <a:t>Data Classification Standards</a:t>
          </a:r>
        </a:p>
      </dgm:t>
    </dgm:pt>
    <dgm:pt modelId="{DD273876-21F1-4AF6-987E-672963CE1718}" type="parTrans" cxnId="{3899F814-1ECD-4DA1-960D-E203AF504064}">
      <dgm:prSet/>
      <dgm:spPr/>
      <dgm:t>
        <a:bodyPr/>
        <a:lstStyle/>
        <a:p>
          <a:endParaRPr lang="en-US"/>
        </a:p>
      </dgm:t>
    </dgm:pt>
    <dgm:pt modelId="{43ADE722-6D0A-4016-B79D-552F60B61769}" type="sibTrans" cxnId="{3899F814-1ECD-4DA1-960D-E203AF504064}">
      <dgm:prSet/>
      <dgm:spPr/>
      <dgm:t>
        <a:bodyPr/>
        <a:lstStyle/>
        <a:p>
          <a:endParaRPr lang="en-US"/>
        </a:p>
      </dgm:t>
    </dgm:pt>
    <dgm:pt modelId="{4C0CD99A-6697-4888-A2EF-14D15A1E1861}">
      <dgm:prSet/>
      <dgm:spPr/>
      <dgm:t>
        <a:bodyPr/>
        <a:lstStyle/>
        <a:p>
          <a:r>
            <a:rPr lang="en-US"/>
            <a:t>Types of Data &amp; Their Classifications – Private Data	</a:t>
          </a:r>
        </a:p>
      </dgm:t>
    </dgm:pt>
    <dgm:pt modelId="{1F965423-D29C-4BB0-A405-9E4B0A176B7C}" type="parTrans" cxnId="{484CFC23-487A-4707-BA85-B1AA05430C0A}">
      <dgm:prSet/>
      <dgm:spPr/>
      <dgm:t>
        <a:bodyPr/>
        <a:lstStyle/>
        <a:p>
          <a:endParaRPr lang="en-US"/>
        </a:p>
      </dgm:t>
    </dgm:pt>
    <dgm:pt modelId="{F5EF744C-3D76-4FE3-A610-D83750B1DFCD}" type="sibTrans" cxnId="{484CFC23-487A-4707-BA85-B1AA05430C0A}">
      <dgm:prSet/>
      <dgm:spPr/>
      <dgm:t>
        <a:bodyPr/>
        <a:lstStyle/>
        <a:p>
          <a:endParaRPr lang="en-US"/>
        </a:p>
      </dgm:t>
    </dgm:pt>
    <dgm:pt modelId="{73511625-3F49-4A85-89A1-7DB45F4223CC}">
      <dgm:prSet/>
      <dgm:spPr/>
      <dgm:t>
        <a:bodyPr/>
        <a:lstStyle/>
        <a:p>
          <a:r>
            <a:rPr lang="en-US" dirty="0"/>
            <a:t>Types of Data &amp; Their Classifications – Confidential</a:t>
          </a:r>
        </a:p>
      </dgm:t>
    </dgm:pt>
    <dgm:pt modelId="{836EB500-2D86-4E12-A232-5FF43EE80640}" type="parTrans" cxnId="{A821FD72-F784-4901-B2CA-7BBD8F86B55B}">
      <dgm:prSet/>
      <dgm:spPr/>
      <dgm:t>
        <a:bodyPr/>
        <a:lstStyle/>
        <a:p>
          <a:endParaRPr lang="en-US"/>
        </a:p>
      </dgm:t>
    </dgm:pt>
    <dgm:pt modelId="{D2CC89E1-C139-48D7-B1A9-A0DB2FA91F31}" type="sibTrans" cxnId="{A821FD72-F784-4901-B2CA-7BBD8F86B55B}">
      <dgm:prSet/>
      <dgm:spPr/>
      <dgm:t>
        <a:bodyPr/>
        <a:lstStyle/>
        <a:p>
          <a:endParaRPr lang="en-US"/>
        </a:p>
      </dgm:t>
    </dgm:pt>
    <dgm:pt modelId="{A9647560-05E6-4043-B4FE-A0D7CDC79165}">
      <dgm:prSet/>
      <dgm:spPr/>
      <dgm:t>
        <a:bodyPr/>
        <a:lstStyle/>
        <a:p>
          <a:r>
            <a:rPr lang="en-US"/>
            <a:t>Types of Data &amp; Their Classifications – Internal Use Only</a:t>
          </a:r>
        </a:p>
      </dgm:t>
    </dgm:pt>
    <dgm:pt modelId="{425F07D5-F273-41A4-97F0-156CC193F63A}" type="parTrans" cxnId="{0C1C243E-FFE1-42B5-9D59-2E3E27C0374B}">
      <dgm:prSet/>
      <dgm:spPr/>
      <dgm:t>
        <a:bodyPr/>
        <a:lstStyle/>
        <a:p>
          <a:endParaRPr lang="en-US"/>
        </a:p>
      </dgm:t>
    </dgm:pt>
    <dgm:pt modelId="{7F13E038-558C-4B5C-AE92-62228D878B5B}" type="sibTrans" cxnId="{0C1C243E-FFE1-42B5-9D59-2E3E27C0374B}">
      <dgm:prSet/>
      <dgm:spPr/>
      <dgm:t>
        <a:bodyPr/>
        <a:lstStyle/>
        <a:p>
          <a:endParaRPr lang="en-US"/>
        </a:p>
      </dgm:t>
    </dgm:pt>
    <dgm:pt modelId="{210D9325-2986-403B-83DB-DB78B6987974}">
      <dgm:prSet/>
      <dgm:spPr/>
      <dgm:t>
        <a:bodyPr/>
        <a:lstStyle/>
        <a:p>
          <a:r>
            <a:rPr lang="en-US"/>
            <a:t>Types of Data &amp; Their Classifications – Public Domain Data</a:t>
          </a:r>
        </a:p>
      </dgm:t>
    </dgm:pt>
    <dgm:pt modelId="{CE096726-9A5E-4245-AEF7-2B2D9397E54C}" type="parTrans" cxnId="{F9A492AE-AFFC-448F-B887-034FFBC3E3DC}">
      <dgm:prSet/>
      <dgm:spPr/>
      <dgm:t>
        <a:bodyPr/>
        <a:lstStyle/>
        <a:p>
          <a:endParaRPr lang="en-US"/>
        </a:p>
      </dgm:t>
    </dgm:pt>
    <dgm:pt modelId="{5ED2288A-D822-439B-80E4-9F325A3D658C}" type="sibTrans" cxnId="{F9A492AE-AFFC-448F-B887-034FFBC3E3DC}">
      <dgm:prSet/>
      <dgm:spPr/>
      <dgm:t>
        <a:bodyPr/>
        <a:lstStyle/>
        <a:p>
          <a:endParaRPr lang="en-US"/>
        </a:p>
      </dgm:t>
    </dgm:pt>
    <dgm:pt modelId="{B4FA47FE-CC5B-4211-949D-E67F5F15DD79}">
      <dgm:prSet/>
      <dgm:spPr/>
      <dgm:t>
        <a:bodyPr/>
        <a:lstStyle/>
        <a:p>
          <a:r>
            <a:rPr lang="en-US" dirty="0"/>
            <a:t>Data Security Recommendation and Justification</a:t>
          </a:r>
        </a:p>
      </dgm:t>
    </dgm:pt>
    <dgm:pt modelId="{0172A2BB-6536-42E5-BC81-DD50CEEF7F63}" type="parTrans" cxnId="{2D7D688B-1365-4A6C-9C17-A1C026A1F9AF}">
      <dgm:prSet/>
      <dgm:spPr/>
      <dgm:t>
        <a:bodyPr/>
        <a:lstStyle/>
        <a:p>
          <a:endParaRPr lang="en-US"/>
        </a:p>
      </dgm:t>
    </dgm:pt>
    <dgm:pt modelId="{768EBD3D-789E-4FC6-9288-8089CA03FEC0}" type="sibTrans" cxnId="{2D7D688B-1365-4A6C-9C17-A1C026A1F9AF}">
      <dgm:prSet/>
      <dgm:spPr/>
      <dgm:t>
        <a:bodyPr/>
        <a:lstStyle/>
        <a:p>
          <a:endParaRPr lang="en-US"/>
        </a:p>
      </dgm:t>
    </dgm:pt>
    <dgm:pt modelId="{11491F9E-3CF8-4538-9BE0-93B286F61D10}">
      <dgm:prSet/>
      <dgm:spPr/>
      <dgm:t>
        <a:bodyPr/>
        <a:lstStyle/>
        <a:p>
          <a:r>
            <a:rPr lang="en-US" dirty="0"/>
            <a:t>Conclusion</a:t>
          </a:r>
        </a:p>
      </dgm:t>
    </dgm:pt>
    <dgm:pt modelId="{B9740EC9-BFA5-4163-A8AE-83D2BEDC7E35}" type="parTrans" cxnId="{5EC9CDED-A3FD-4395-AEFE-E741F8C4B799}">
      <dgm:prSet/>
      <dgm:spPr/>
      <dgm:t>
        <a:bodyPr/>
        <a:lstStyle/>
        <a:p>
          <a:endParaRPr lang="en-US"/>
        </a:p>
      </dgm:t>
    </dgm:pt>
    <dgm:pt modelId="{6CC1AAD8-0381-4954-968C-99E491E85D3B}" type="sibTrans" cxnId="{5EC9CDED-A3FD-4395-AEFE-E741F8C4B799}">
      <dgm:prSet/>
      <dgm:spPr/>
      <dgm:t>
        <a:bodyPr/>
        <a:lstStyle/>
        <a:p>
          <a:endParaRPr lang="en-US"/>
        </a:p>
      </dgm:t>
    </dgm:pt>
    <dgm:pt modelId="{700DA2DE-8400-4520-9702-B20C58E244C0}">
      <dgm:prSet/>
      <dgm:spPr/>
      <dgm:t>
        <a:bodyPr/>
        <a:lstStyle/>
        <a:p>
          <a:r>
            <a:rPr lang="en-US" dirty="0"/>
            <a:t>References</a:t>
          </a:r>
        </a:p>
      </dgm:t>
    </dgm:pt>
    <dgm:pt modelId="{D89C2288-C221-4207-964F-E840EE5762AE}" type="parTrans" cxnId="{3B90EBBA-3F4F-40AB-8DB5-EAF3325758F6}">
      <dgm:prSet/>
      <dgm:spPr/>
      <dgm:t>
        <a:bodyPr/>
        <a:lstStyle/>
        <a:p>
          <a:endParaRPr lang="en-US"/>
        </a:p>
      </dgm:t>
    </dgm:pt>
    <dgm:pt modelId="{EE696CAC-AC28-4F79-9454-6FD3C4E02904}" type="sibTrans" cxnId="{3B90EBBA-3F4F-40AB-8DB5-EAF3325758F6}">
      <dgm:prSet/>
      <dgm:spPr/>
      <dgm:t>
        <a:bodyPr/>
        <a:lstStyle/>
        <a:p>
          <a:endParaRPr lang="en-US"/>
        </a:p>
      </dgm:t>
    </dgm:pt>
    <dgm:pt modelId="{2C9F238F-FE10-0C4C-8C8B-68A78C196DBF}" type="pres">
      <dgm:prSet presAssocID="{E5EF0649-FB78-495F-8F32-5034C5E3EAB5}" presName="linear" presStyleCnt="0">
        <dgm:presLayoutVars>
          <dgm:animLvl val="lvl"/>
          <dgm:resizeHandles val="exact"/>
        </dgm:presLayoutVars>
      </dgm:prSet>
      <dgm:spPr/>
    </dgm:pt>
    <dgm:pt modelId="{ECDDAAA9-947B-9D4F-B765-FC94EA9BC7D6}" type="pres">
      <dgm:prSet presAssocID="{66040943-C446-40DA-94C1-F6C865B3A90A}" presName="parentText" presStyleLbl="node1" presStyleIdx="0" presStyleCnt="8" custLinFactY="-37509" custLinFactNeighborY="-100000">
        <dgm:presLayoutVars>
          <dgm:chMax val="0"/>
          <dgm:bulletEnabled val="1"/>
        </dgm:presLayoutVars>
      </dgm:prSet>
      <dgm:spPr/>
    </dgm:pt>
    <dgm:pt modelId="{B11DC6E9-84C5-2142-8C78-9550F7A227C1}" type="pres">
      <dgm:prSet presAssocID="{845AEED7-FEE5-4482-A055-9069BFA217D5}" presName="spacer" presStyleCnt="0"/>
      <dgm:spPr/>
    </dgm:pt>
    <dgm:pt modelId="{5790052F-9C1E-3B4B-8809-B20729D64A6D}" type="pres">
      <dgm:prSet presAssocID="{62A800D3-A37E-4C6B-A9C6-9DB41826E667}" presName="parentText" presStyleLbl="node1" presStyleIdx="1" presStyleCnt="8" custLinFactY="-8605" custLinFactNeighborY="-100000">
        <dgm:presLayoutVars>
          <dgm:chMax val="0"/>
          <dgm:bulletEnabled val="1"/>
        </dgm:presLayoutVars>
      </dgm:prSet>
      <dgm:spPr/>
    </dgm:pt>
    <dgm:pt modelId="{97547114-06FC-4141-86BA-224EB2A56E03}" type="pres">
      <dgm:prSet presAssocID="{E5F15EA3-F090-4529-93BA-0B1C7FCB8214}" presName="spacer" presStyleCnt="0"/>
      <dgm:spPr/>
    </dgm:pt>
    <dgm:pt modelId="{8E8B400A-5207-CA46-AB44-9DB92301C364}" type="pres">
      <dgm:prSet presAssocID="{69FD3B59-4A31-4C3F-A50D-5916D4FC8DF4}" presName="parentText" presStyleLbl="node1" presStyleIdx="2" presStyleCnt="8" custLinFactNeighborY="-86232">
        <dgm:presLayoutVars>
          <dgm:chMax val="0"/>
          <dgm:bulletEnabled val="1"/>
        </dgm:presLayoutVars>
      </dgm:prSet>
      <dgm:spPr/>
    </dgm:pt>
    <dgm:pt modelId="{8C8DDA09-0DA8-A94D-950D-902A8EAD9C2D}" type="pres">
      <dgm:prSet presAssocID="{9721D3B4-9A00-4C43-AA95-DECA3E8FF566}" presName="spacer" presStyleCnt="0"/>
      <dgm:spPr/>
    </dgm:pt>
    <dgm:pt modelId="{19E2794D-F1FF-7848-AE3B-71597C97F148}" type="pres">
      <dgm:prSet presAssocID="{F064E009-06E7-4569-A36E-BFB2A8A4BC35}" presName="parentText" presStyleLbl="node1" presStyleIdx="3" presStyleCnt="8" custLinFactNeighborY="-61138">
        <dgm:presLayoutVars>
          <dgm:chMax val="0"/>
          <dgm:bulletEnabled val="1"/>
        </dgm:presLayoutVars>
      </dgm:prSet>
      <dgm:spPr/>
    </dgm:pt>
    <dgm:pt modelId="{9D182915-84E2-FA41-BFD5-EE5B1BDD42FE}" type="pres">
      <dgm:prSet presAssocID="{D4D5770D-0E08-4C34-BAD7-DA1C7BAD3055}" presName="spacer" presStyleCnt="0"/>
      <dgm:spPr/>
    </dgm:pt>
    <dgm:pt modelId="{003639DF-A3B1-C443-940D-BD117499C6C1}" type="pres">
      <dgm:prSet presAssocID="{7DA29CFD-2FA0-41CA-9162-C66A334EA609}" presName="parentText" presStyleLbl="node1" presStyleIdx="4" presStyleCnt="8">
        <dgm:presLayoutVars>
          <dgm:chMax val="0"/>
          <dgm:bulletEnabled val="1"/>
        </dgm:presLayoutVars>
      </dgm:prSet>
      <dgm:spPr/>
    </dgm:pt>
    <dgm:pt modelId="{456B42FD-9CD9-A04F-A908-78CA2EDE6F6B}" type="pres">
      <dgm:prSet presAssocID="{7DA29CFD-2FA0-41CA-9162-C66A334EA609}" presName="childText" presStyleLbl="revTx" presStyleIdx="0" presStyleCnt="1" custLinFactNeighborY="3343">
        <dgm:presLayoutVars>
          <dgm:bulletEnabled val="1"/>
        </dgm:presLayoutVars>
      </dgm:prSet>
      <dgm:spPr/>
    </dgm:pt>
    <dgm:pt modelId="{0FF7F6A4-927B-514F-A326-19D723D9DB03}" type="pres">
      <dgm:prSet presAssocID="{B4FA47FE-CC5B-4211-949D-E67F5F15DD79}" presName="parentText" presStyleLbl="node1" presStyleIdx="5" presStyleCnt="8">
        <dgm:presLayoutVars>
          <dgm:chMax val="0"/>
          <dgm:bulletEnabled val="1"/>
        </dgm:presLayoutVars>
      </dgm:prSet>
      <dgm:spPr/>
    </dgm:pt>
    <dgm:pt modelId="{17B2734D-CD6D-BA41-9FFC-279A5A71B8EF}" type="pres">
      <dgm:prSet presAssocID="{768EBD3D-789E-4FC6-9288-8089CA03FEC0}" presName="spacer" presStyleCnt="0"/>
      <dgm:spPr/>
    </dgm:pt>
    <dgm:pt modelId="{88D49C10-DC2C-4640-948F-13B07FC546D1}" type="pres">
      <dgm:prSet presAssocID="{11491F9E-3CF8-4538-9BE0-93B286F61D10}" presName="parentText" presStyleLbl="node1" presStyleIdx="6" presStyleCnt="8" custLinFactNeighborY="27603">
        <dgm:presLayoutVars>
          <dgm:chMax val="0"/>
          <dgm:bulletEnabled val="1"/>
        </dgm:presLayoutVars>
      </dgm:prSet>
      <dgm:spPr/>
    </dgm:pt>
    <dgm:pt modelId="{CDBB3880-F777-FB45-9C36-A5A07279EFCC}" type="pres">
      <dgm:prSet presAssocID="{6CC1AAD8-0381-4954-968C-99E491E85D3B}" presName="spacer" presStyleCnt="0"/>
      <dgm:spPr/>
    </dgm:pt>
    <dgm:pt modelId="{96CA3731-9DEB-464C-A49C-50DE5C5EFA52}" type="pres">
      <dgm:prSet presAssocID="{700DA2DE-8400-4520-9702-B20C58E244C0}" presName="parentText" presStyleLbl="node1" presStyleIdx="7" presStyleCnt="8" custLinFactY="34924" custLinFactNeighborY="100000">
        <dgm:presLayoutVars>
          <dgm:chMax val="0"/>
          <dgm:bulletEnabled val="1"/>
        </dgm:presLayoutVars>
      </dgm:prSet>
      <dgm:spPr/>
    </dgm:pt>
  </dgm:ptLst>
  <dgm:cxnLst>
    <dgm:cxn modelId="{56C0ED08-0C1A-8C45-9639-5835DE4EB95F}" type="presOf" srcId="{B4FA47FE-CC5B-4211-949D-E67F5F15DD79}" destId="{0FF7F6A4-927B-514F-A326-19D723D9DB03}" srcOrd="0" destOrd="0" presId="urn:microsoft.com/office/officeart/2005/8/layout/vList2"/>
    <dgm:cxn modelId="{D6430C0E-94E9-1649-844C-B1917279CDFD}" type="presOf" srcId="{700DA2DE-8400-4520-9702-B20C58E244C0}" destId="{96CA3731-9DEB-464C-A49C-50DE5C5EFA52}" srcOrd="0" destOrd="0" presId="urn:microsoft.com/office/officeart/2005/8/layout/vList2"/>
    <dgm:cxn modelId="{3899F814-1ECD-4DA1-960D-E203AF504064}" srcId="{E5EF0649-FB78-495F-8F32-5034C5E3EAB5}" destId="{7DA29CFD-2FA0-41CA-9162-C66A334EA609}" srcOrd="4" destOrd="0" parTransId="{DD273876-21F1-4AF6-987E-672963CE1718}" sibTransId="{43ADE722-6D0A-4016-B79D-552F60B61769}"/>
    <dgm:cxn modelId="{ACF1441F-61ED-AA4D-AF89-DE730B237343}" type="presOf" srcId="{66040943-C446-40DA-94C1-F6C865B3A90A}" destId="{ECDDAAA9-947B-9D4F-B765-FC94EA9BC7D6}" srcOrd="0" destOrd="0" presId="urn:microsoft.com/office/officeart/2005/8/layout/vList2"/>
    <dgm:cxn modelId="{484CFC23-487A-4707-BA85-B1AA05430C0A}" srcId="{7DA29CFD-2FA0-41CA-9162-C66A334EA609}" destId="{4C0CD99A-6697-4888-A2EF-14D15A1E1861}" srcOrd="0" destOrd="0" parTransId="{1F965423-D29C-4BB0-A405-9E4B0A176B7C}" sibTransId="{F5EF744C-3D76-4FE3-A610-D83750B1DFCD}"/>
    <dgm:cxn modelId="{B6D72B29-31CC-0D47-A2DA-6ED95E80C4B3}" type="presOf" srcId="{11491F9E-3CF8-4538-9BE0-93B286F61D10}" destId="{88D49C10-DC2C-4640-948F-13B07FC546D1}" srcOrd="0" destOrd="0" presId="urn:microsoft.com/office/officeart/2005/8/layout/vList2"/>
    <dgm:cxn modelId="{D7BE772A-42EC-4140-8B04-8C5E2BFA0683}" type="presOf" srcId="{69FD3B59-4A31-4C3F-A50D-5916D4FC8DF4}" destId="{8E8B400A-5207-CA46-AB44-9DB92301C364}" srcOrd="0" destOrd="0" presId="urn:microsoft.com/office/officeart/2005/8/layout/vList2"/>
    <dgm:cxn modelId="{E9D03834-761C-6545-A919-BE9F1DDA6AB5}" type="presOf" srcId="{73511625-3F49-4A85-89A1-7DB45F4223CC}" destId="{456B42FD-9CD9-A04F-A908-78CA2EDE6F6B}" srcOrd="0" destOrd="1" presId="urn:microsoft.com/office/officeart/2005/8/layout/vList2"/>
    <dgm:cxn modelId="{703F7F36-87BD-0444-AA1B-EC391A5053FE}" type="presOf" srcId="{E5EF0649-FB78-495F-8F32-5034C5E3EAB5}" destId="{2C9F238F-FE10-0C4C-8C8B-68A78C196DBF}" srcOrd="0" destOrd="0" presId="urn:microsoft.com/office/officeart/2005/8/layout/vList2"/>
    <dgm:cxn modelId="{0C1C243E-FFE1-42B5-9D59-2E3E27C0374B}" srcId="{7DA29CFD-2FA0-41CA-9162-C66A334EA609}" destId="{A9647560-05E6-4043-B4FE-A0D7CDC79165}" srcOrd="2" destOrd="0" parTransId="{425F07D5-F273-41A4-97F0-156CC193F63A}" sibTransId="{7F13E038-558C-4B5C-AE92-62228D878B5B}"/>
    <dgm:cxn modelId="{32597644-D5BD-4EC6-B71D-005CF3B3D7BA}" srcId="{E5EF0649-FB78-495F-8F32-5034C5E3EAB5}" destId="{F064E009-06E7-4569-A36E-BFB2A8A4BC35}" srcOrd="3" destOrd="0" parTransId="{D0D9AA2D-4CB7-4569-87EC-B09FB8F95912}" sibTransId="{D4D5770D-0E08-4C34-BAD7-DA1C7BAD3055}"/>
    <dgm:cxn modelId="{3DC91148-564E-164C-80A6-DEFC9617BFB8}" type="presOf" srcId="{210D9325-2986-403B-83DB-DB78B6987974}" destId="{456B42FD-9CD9-A04F-A908-78CA2EDE6F6B}" srcOrd="0" destOrd="3" presId="urn:microsoft.com/office/officeart/2005/8/layout/vList2"/>
    <dgm:cxn modelId="{FD024951-D1AC-4F25-BFDA-BF603A0C9D92}" srcId="{E5EF0649-FB78-495F-8F32-5034C5E3EAB5}" destId="{66040943-C446-40DA-94C1-F6C865B3A90A}" srcOrd="0" destOrd="0" parTransId="{B0F676DA-8DF5-4A49-849E-DC8C6988C34C}" sibTransId="{845AEED7-FEE5-4482-A055-9069BFA217D5}"/>
    <dgm:cxn modelId="{5C4A2172-02C8-7B40-96B4-340310FD738E}" type="presOf" srcId="{4C0CD99A-6697-4888-A2EF-14D15A1E1861}" destId="{456B42FD-9CD9-A04F-A908-78CA2EDE6F6B}" srcOrd="0" destOrd="0" presId="urn:microsoft.com/office/officeart/2005/8/layout/vList2"/>
    <dgm:cxn modelId="{A821FD72-F784-4901-B2CA-7BBD8F86B55B}" srcId="{7DA29CFD-2FA0-41CA-9162-C66A334EA609}" destId="{73511625-3F49-4A85-89A1-7DB45F4223CC}" srcOrd="1" destOrd="0" parTransId="{836EB500-2D86-4E12-A232-5FF43EE80640}" sibTransId="{D2CC89E1-C139-48D7-B1A9-A0DB2FA91F31}"/>
    <dgm:cxn modelId="{10D3B773-0E1F-4C00-999D-C149297923D3}" srcId="{E5EF0649-FB78-495F-8F32-5034C5E3EAB5}" destId="{69FD3B59-4A31-4C3F-A50D-5916D4FC8DF4}" srcOrd="2" destOrd="0" parTransId="{F3A2A96C-00ED-4DA8-8ABF-03EA44270B78}" sibTransId="{9721D3B4-9A00-4C43-AA95-DECA3E8FF566}"/>
    <dgm:cxn modelId="{871AF779-9C61-B343-9A87-9AE011A1C833}" type="presOf" srcId="{F064E009-06E7-4569-A36E-BFB2A8A4BC35}" destId="{19E2794D-F1FF-7848-AE3B-71597C97F148}" srcOrd="0" destOrd="0" presId="urn:microsoft.com/office/officeart/2005/8/layout/vList2"/>
    <dgm:cxn modelId="{5C314E84-28C8-414B-96C9-0219AFB8D619}" type="presOf" srcId="{7DA29CFD-2FA0-41CA-9162-C66A334EA609}" destId="{003639DF-A3B1-C443-940D-BD117499C6C1}" srcOrd="0" destOrd="0" presId="urn:microsoft.com/office/officeart/2005/8/layout/vList2"/>
    <dgm:cxn modelId="{2D7D688B-1365-4A6C-9C17-A1C026A1F9AF}" srcId="{E5EF0649-FB78-495F-8F32-5034C5E3EAB5}" destId="{B4FA47FE-CC5B-4211-949D-E67F5F15DD79}" srcOrd="5" destOrd="0" parTransId="{0172A2BB-6536-42E5-BC81-DD50CEEF7F63}" sibTransId="{768EBD3D-789E-4FC6-9288-8089CA03FEC0}"/>
    <dgm:cxn modelId="{14B5E297-4536-4809-9C97-C1C1A2B11805}" srcId="{E5EF0649-FB78-495F-8F32-5034C5E3EAB5}" destId="{62A800D3-A37E-4C6B-A9C6-9DB41826E667}" srcOrd="1" destOrd="0" parTransId="{9AA3C43F-B055-452E-AEE1-267923ABF367}" sibTransId="{E5F15EA3-F090-4529-93BA-0B1C7FCB8214}"/>
    <dgm:cxn modelId="{8D4085A5-EECF-F048-A04D-17521F4D324C}" type="presOf" srcId="{A9647560-05E6-4043-B4FE-A0D7CDC79165}" destId="{456B42FD-9CD9-A04F-A908-78CA2EDE6F6B}" srcOrd="0" destOrd="2" presId="urn:microsoft.com/office/officeart/2005/8/layout/vList2"/>
    <dgm:cxn modelId="{EC8175AE-ECED-6443-A764-91D5EB0CF5F5}" type="presOf" srcId="{62A800D3-A37E-4C6B-A9C6-9DB41826E667}" destId="{5790052F-9C1E-3B4B-8809-B20729D64A6D}" srcOrd="0" destOrd="0" presId="urn:microsoft.com/office/officeart/2005/8/layout/vList2"/>
    <dgm:cxn modelId="{F9A492AE-AFFC-448F-B887-034FFBC3E3DC}" srcId="{7DA29CFD-2FA0-41CA-9162-C66A334EA609}" destId="{210D9325-2986-403B-83DB-DB78B6987974}" srcOrd="3" destOrd="0" parTransId="{CE096726-9A5E-4245-AEF7-2B2D9397E54C}" sibTransId="{5ED2288A-D822-439B-80E4-9F325A3D658C}"/>
    <dgm:cxn modelId="{3B90EBBA-3F4F-40AB-8DB5-EAF3325758F6}" srcId="{E5EF0649-FB78-495F-8F32-5034C5E3EAB5}" destId="{700DA2DE-8400-4520-9702-B20C58E244C0}" srcOrd="7" destOrd="0" parTransId="{D89C2288-C221-4207-964F-E840EE5762AE}" sibTransId="{EE696CAC-AC28-4F79-9454-6FD3C4E02904}"/>
    <dgm:cxn modelId="{5EC9CDED-A3FD-4395-AEFE-E741F8C4B799}" srcId="{E5EF0649-FB78-495F-8F32-5034C5E3EAB5}" destId="{11491F9E-3CF8-4538-9BE0-93B286F61D10}" srcOrd="6" destOrd="0" parTransId="{B9740EC9-BFA5-4163-A8AE-83D2BEDC7E35}" sibTransId="{6CC1AAD8-0381-4954-968C-99E491E85D3B}"/>
    <dgm:cxn modelId="{624C95D0-DC36-4040-8F5F-704C7F41E73D}" type="presParOf" srcId="{2C9F238F-FE10-0C4C-8C8B-68A78C196DBF}" destId="{ECDDAAA9-947B-9D4F-B765-FC94EA9BC7D6}" srcOrd="0" destOrd="0" presId="urn:microsoft.com/office/officeart/2005/8/layout/vList2"/>
    <dgm:cxn modelId="{921935A0-3A0A-6145-961D-31489D572D3B}" type="presParOf" srcId="{2C9F238F-FE10-0C4C-8C8B-68A78C196DBF}" destId="{B11DC6E9-84C5-2142-8C78-9550F7A227C1}" srcOrd="1" destOrd="0" presId="urn:microsoft.com/office/officeart/2005/8/layout/vList2"/>
    <dgm:cxn modelId="{7AC908B7-37EB-9443-B04C-7C30D30665FF}" type="presParOf" srcId="{2C9F238F-FE10-0C4C-8C8B-68A78C196DBF}" destId="{5790052F-9C1E-3B4B-8809-B20729D64A6D}" srcOrd="2" destOrd="0" presId="urn:microsoft.com/office/officeart/2005/8/layout/vList2"/>
    <dgm:cxn modelId="{73666825-E207-4B45-AF2E-52347B79C4A2}" type="presParOf" srcId="{2C9F238F-FE10-0C4C-8C8B-68A78C196DBF}" destId="{97547114-06FC-4141-86BA-224EB2A56E03}" srcOrd="3" destOrd="0" presId="urn:microsoft.com/office/officeart/2005/8/layout/vList2"/>
    <dgm:cxn modelId="{AE6AF4B5-FFFD-5F4A-96AE-D6997CDAF82B}" type="presParOf" srcId="{2C9F238F-FE10-0C4C-8C8B-68A78C196DBF}" destId="{8E8B400A-5207-CA46-AB44-9DB92301C364}" srcOrd="4" destOrd="0" presId="urn:microsoft.com/office/officeart/2005/8/layout/vList2"/>
    <dgm:cxn modelId="{440E1DB1-E2F4-9443-B0A9-AFCCD3FC67F1}" type="presParOf" srcId="{2C9F238F-FE10-0C4C-8C8B-68A78C196DBF}" destId="{8C8DDA09-0DA8-A94D-950D-902A8EAD9C2D}" srcOrd="5" destOrd="0" presId="urn:microsoft.com/office/officeart/2005/8/layout/vList2"/>
    <dgm:cxn modelId="{1C5D3A42-86D7-B94F-9D56-E267E36BBDA5}" type="presParOf" srcId="{2C9F238F-FE10-0C4C-8C8B-68A78C196DBF}" destId="{19E2794D-F1FF-7848-AE3B-71597C97F148}" srcOrd="6" destOrd="0" presId="urn:microsoft.com/office/officeart/2005/8/layout/vList2"/>
    <dgm:cxn modelId="{9E965754-409B-8242-83BB-3DA86975AB2E}" type="presParOf" srcId="{2C9F238F-FE10-0C4C-8C8B-68A78C196DBF}" destId="{9D182915-84E2-FA41-BFD5-EE5B1BDD42FE}" srcOrd="7" destOrd="0" presId="urn:microsoft.com/office/officeart/2005/8/layout/vList2"/>
    <dgm:cxn modelId="{C423832D-E11B-F743-8EAA-12D20096E7A4}" type="presParOf" srcId="{2C9F238F-FE10-0C4C-8C8B-68A78C196DBF}" destId="{003639DF-A3B1-C443-940D-BD117499C6C1}" srcOrd="8" destOrd="0" presId="urn:microsoft.com/office/officeart/2005/8/layout/vList2"/>
    <dgm:cxn modelId="{AF30A58E-1B3E-DC48-A242-447D9E7C6442}" type="presParOf" srcId="{2C9F238F-FE10-0C4C-8C8B-68A78C196DBF}" destId="{456B42FD-9CD9-A04F-A908-78CA2EDE6F6B}" srcOrd="9" destOrd="0" presId="urn:microsoft.com/office/officeart/2005/8/layout/vList2"/>
    <dgm:cxn modelId="{83C21961-3E43-4244-994A-8649097DD5BB}" type="presParOf" srcId="{2C9F238F-FE10-0C4C-8C8B-68A78C196DBF}" destId="{0FF7F6A4-927B-514F-A326-19D723D9DB03}" srcOrd="10" destOrd="0" presId="urn:microsoft.com/office/officeart/2005/8/layout/vList2"/>
    <dgm:cxn modelId="{2F3B916D-B991-B546-B334-FD2191D0346D}" type="presParOf" srcId="{2C9F238F-FE10-0C4C-8C8B-68A78C196DBF}" destId="{17B2734D-CD6D-BA41-9FFC-279A5A71B8EF}" srcOrd="11" destOrd="0" presId="urn:microsoft.com/office/officeart/2005/8/layout/vList2"/>
    <dgm:cxn modelId="{CBBFAF8C-326B-194D-9180-7BA495591C66}" type="presParOf" srcId="{2C9F238F-FE10-0C4C-8C8B-68A78C196DBF}" destId="{88D49C10-DC2C-4640-948F-13B07FC546D1}" srcOrd="12" destOrd="0" presId="urn:microsoft.com/office/officeart/2005/8/layout/vList2"/>
    <dgm:cxn modelId="{C7F69EF1-5843-E94B-99C1-69FE85B2D36C}" type="presParOf" srcId="{2C9F238F-FE10-0C4C-8C8B-68A78C196DBF}" destId="{CDBB3880-F777-FB45-9C36-A5A07279EFCC}" srcOrd="13" destOrd="0" presId="urn:microsoft.com/office/officeart/2005/8/layout/vList2"/>
    <dgm:cxn modelId="{A4585054-B8AA-E047-A24C-116CEA025822}" type="presParOf" srcId="{2C9F238F-FE10-0C4C-8C8B-68A78C196DBF}" destId="{96CA3731-9DEB-464C-A49C-50DE5C5EFA5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EAD4E3-2F08-435A-B413-7D052C8EAAB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8B456CF-83C0-46CC-9421-4A3021C5C5E8}">
      <dgm:prSet/>
      <dgm:spPr/>
      <dgm:t>
        <a:bodyPr/>
        <a:lstStyle/>
        <a:p>
          <a:r>
            <a:rPr lang="en-US"/>
            <a:t>Data breaches have been a prevalent topic in cybersecurity communities over the years, and one of the main targets of threat actors has been healthcare facilities due to the large amount of patient data being handled by healthcare organizations. </a:t>
          </a:r>
        </a:p>
      </dgm:t>
    </dgm:pt>
    <dgm:pt modelId="{13BD09D0-714A-48BF-BC28-72E0F9A5B2F7}" type="parTrans" cxnId="{551AF37E-ADA8-45BC-A0B9-FAA936FF8811}">
      <dgm:prSet/>
      <dgm:spPr/>
      <dgm:t>
        <a:bodyPr/>
        <a:lstStyle/>
        <a:p>
          <a:endParaRPr lang="en-US"/>
        </a:p>
      </dgm:t>
    </dgm:pt>
    <dgm:pt modelId="{992E3628-269A-41CE-9BD6-6E0F83D3577B}" type="sibTrans" cxnId="{551AF37E-ADA8-45BC-A0B9-FAA936FF8811}">
      <dgm:prSet/>
      <dgm:spPr/>
      <dgm:t>
        <a:bodyPr/>
        <a:lstStyle/>
        <a:p>
          <a:endParaRPr lang="en-US"/>
        </a:p>
      </dgm:t>
    </dgm:pt>
    <dgm:pt modelId="{61256486-F227-4BC7-AD07-A7D6B8FE6276}">
      <dgm:prSet/>
      <dgm:spPr/>
      <dgm:t>
        <a:bodyPr/>
        <a:lstStyle/>
        <a:p>
          <a:r>
            <a:rPr lang="en-US"/>
            <a:t>Proper data classification is essential for protecting this information and ensuring compliance with regulations like HIPAA. </a:t>
          </a:r>
        </a:p>
      </dgm:t>
    </dgm:pt>
    <dgm:pt modelId="{6CEF853E-1613-4078-A72A-EC0D0B83C3AD}" type="parTrans" cxnId="{29ECCCF5-6DF9-4307-A3FD-B1B11A908647}">
      <dgm:prSet/>
      <dgm:spPr/>
      <dgm:t>
        <a:bodyPr/>
        <a:lstStyle/>
        <a:p>
          <a:endParaRPr lang="en-US"/>
        </a:p>
      </dgm:t>
    </dgm:pt>
    <dgm:pt modelId="{AB17F8EF-AC23-435B-B4C5-1D9413BD8651}" type="sibTrans" cxnId="{29ECCCF5-6DF9-4307-A3FD-B1B11A908647}">
      <dgm:prSet/>
      <dgm:spPr/>
      <dgm:t>
        <a:bodyPr/>
        <a:lstStyle/>
        <a:p>
          <a:endParaRPr lang="en-US"/>
        </a:p>
      </dgm:t>
    </dgm:pt>
    <dgm:pt modelId="{255CA914-0AC5-42A4-85F8-A1AA34A26D50}">
      <dgm:prSet/>
      <dgm:spPr/>
      <dgm:t>
        <a:bodyPr/>
        <a:lstStyle/>
        <a:p>
          <a:r>
            <a:rPr lang="en-US"/>
            <a:t>This presentation outlines the data classification standards at CareAtHome, detailing the different data categories and the security measures for the categories.</a:t>
          </a:r>
        </a:p>
      </dgm:t>
    </dgm:pt>
    <dgm:pt modelId="{E05CB381-E9A9-4BF2-AACB-A42D5FAB2972}" type="parTrans" cxnId="{CA64DF72-8C1E-4E4E-9882-1AC2834C2D7A}">
      <dgm:prSet/>
      <dgm:spPr/>
      <dgm:t>
        <a:bodyPr/>
        <a:lstStyle/>
        <a:p>
          <a:endParaRPr lang="en-US"/>
        </a:p>
      </dgm:t>
    </dgm:pt>
    <dgm:pt modelId="{088D5AD7-07CD-416A-89EE-193E827D965A}" type="sibTrans" cxnId="{CA64DF72-8C1E-4E4E-9882-1AC2834C2D7A}">
      <dgm:prSet/>
      <dgm:spPr/>
      <dgm:t>
        <a:bodyPr/>
        <a:lstStyle/>
        <a:p>
          <a:endParaRPr lang="en-US"/>
        </a:p>
      </dgm:t>
    </dgm:pt>
    <dgm:pt modelId="{E475ED7D-194B-4BA6-B5DC-2617C5B4A260}" type="pres">
      <dgm:prSet presAssocID="{37EAD4E3-2F08-435A-B413-7D052C8EAAB7}" presName="root" presStyleCnt="0">
        <dgm:presLayoutVars>
          <dgm:dir/>
          <dgm:resizeHandles val="exact"/>
        </dgm:presLayoutVars>
      </dgm:prSet>
      <dgm:spPr/>
    </dgm:pt>
    <dgm:pt modelId="{57A2A89E-00CF-4ED7-B4C4-46DBF90CD7BB}" type="pres">
      <dgm:prSet presAssocID="{98B456CF-83C0-46CC-9421-4A3021C5C5E8}" presName="compNode" presStyleCnt="0"/>
      <dgm:spPr/>
    </dgm:pt>
    <dgm:pt modelId="{61FE5634-8FED-465D-B6C0-06376D32F50D}" type="pres">
      <dgm:prSet presAssocID="{98B456CF-83C0-46CC-9421-4A3021C5C5E8}" presName="bgRect" presStyleLbl="bgShp" presStyleIdx="0" presStyleCnt="3"/>
      <dgm:spPr/>
    </dgm:pt>
    <dgm:pt modelId="{70958884-D2CE-4D7E-90EE-D4BE8619C7E8}" type="pres">
      <dgm:prSet presAssocID="{98B456CF-83C0-46CC-9421-4A3021C5C5E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05F4237C-6AAC-4000-A9AA-F6370BD49AC5}" type="pres">
      <dgm:prSet presAssocID="{98B456CF-83C0-46CC-9421-4A3021C5C5E8}" presName="spaceRect" presStyleCnt="0"/>
      <dgm:spPr/>
    </dgm:pt>
    <dgm:pt modelId="{B3496F82-8305-4BFE-8162-9D5718138B06}" type="pres">
      <dgm:prSet presAssocID="{98B456CF-83C0-46CC-9421-4A3021C5C5E8}" presName="parTx" presStyleLbl="revTx" presStyleIdx="0" presStyleCnt="3">
        <dgm:presLayoutVars>
          <dgm:chMax val="0"/>
          <dgm:chPref val="0"/>
        </dgm:presLayoutVars>
      </dgm:prSet>
      <dgm:spPr/>
    </dgm:pt>
    <dgm:pt modelId="{295ED0AD-6F74-4761-8E24-B7FA38955358}" type="pres">
      <dgm:prSet presAssocID="{992E3628-269A-41CE-9BD6-6E0F83D3577B}" presName="sibTrans" presStyleCnt="0"/>
      <dgm:spPr/>
    </dgm:pt>
    <dgm:pt modelId="{D85C822B-9C08-4DA1-8E5B-E509D07CD8CC}" type="pres">
      <dgm:prSet presAssocID="{61256486-F227-4BC7-AD07-A7D6B8FE6276}" presName="compNode" presStyleCnt="0"/>
      <dgm:spPr/>
    </dgm:pt>
    <dgm:pt modelId="{37DC0B26-8375-43FA-A039-7CE58C0719BC}" type="pres">
      <dgm:prSet presAssocID="{61256486-F227-4BC7-AD07-A7D6B8FE6276}" presName="bgRect" presStyleLbl="bgShp" presStyleIdx="1" presStyleCnt="3"/>
      <dgm:spPr/>
    </dgm:pt>
    <dgm:pt modelId="{E1BC6181-5005-4EE6-95B9-E9A9DF44E851}" type="pres">
      <dgm:prSet presAssocID="{61256486-F227-4BC7-AD07-A7D6B8FE627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tor"/>
        </a:ext>
      </dgm:extLst>
    </dgm:pt>
    <dgm:pt modelId="{E0918B9E-C644-4925-9F6D-C2D4038CF5F6}" type="pres">
      <dgm:prSet presAssocID="{61256486-F227-4BC7-AD07-A7D6B8FE6276}" presName="spaceRect" presStyleCnt="0"/>
      <dgm:spPr/>
    </dgm:pt>
    <dgm:pt modelId="{392D9E40-A437-47F2-A2BB-9B66C6668EF2}" type="pres">
      <dgm:prSet presAssocID="{61256486-F227-4BC7-AD07-A7D6B8FE6276}" presName="parTx" presStyleLbl="revTx" presStyleIdx="1" presStyleCnt="3">
        <dgm:presLayoutVars>
          <dgm:chMax val="0"/>
          <dgm:chPref val="0"/>
        </dgm:presLayoutVars>
      </dgm:prSet>
      <dgm:spPr/>
    </dgm:pt>
    <dgm:pt modelId="{47A6A18B-B8F1-433E-B3CC-CECDF1468657}" type="pres">
      <dgm:prSet presAssocID="{AB17F8EF-AC23-435B-B4C5-1D9413BD8651}" presName="sibTrans" presStyleCnt="0"/>
      <dgm:spPr/>
    </dgm:pt>
    <dgm:pt modelId="{F1D3A89C-4F9E-4C89-B733-1B32B253C012}" type="pres">
      <dgm:prSet presAssocID="{255CA914-0AC5-42A4-85F8-A1AA34A26D50}" presName="compNode" presStyleCnt="0"/>
      <dgm:spPr/>
    </dgm:pt>
    <dgm:pt modelId="{C202CC21-F8A2-4F63-9595-2E698AD02321}" type="pres">
      <dgm:prSet presAssocID="{255CA914-0AC5-42A4-85F8-A1AA34A26D50}" presName="bgRect" presStyleLbl="bgShp" presStyleIdx="2" presStyleCnt="3"/>
      <dgm:spPr/>
    </dgm:pt>
    <dgm:pt modelId="{E1F36BAA-7C38-4EDE-B506-D57F0C34200F}" type="pres">
      <dgm:prSet presAssocID="{255CA914-0AC5-42A4-85F8-A1AA34A26D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9A9AE809-6324-4972-9E1C-7EC32D8325EB}" type="pres">
      <dgm:prSet presAssocID="{255CA914-0AC5-42A4-85F8-A1AA34A26D50}" presName="spaceRect" presStyleCnt="0"/>
      <dgm:spPr/>
    </dgm:pt>
    <dgm:pt modelId="{26BD9BEE-4845-45DE-BD7E-C32D1835F850}" type="pres">
      <dgm:prSet presAssocID="{255CA914-0AC5-42A4-85F8-A1AA34A26D50}" presName="parTx" presStyleLbl="revTx" presStyleIdx="2" presStyleCnt="3">
        <dgm:presLayoutVars>
          <dgm:chMax val="0"/>
          <dgm:chPref val="0"/>
        </dgm:presLayoutVars>
      </dgm:prSet>
      <dgm:spPr/>
    </dgm:pt>
  </dgm:ptLst>
  <dgm:cxnLst>
    <dgm:cxn modelId="{CA64DF72-8C1E-4E4E-9882-1AC2834C2D7A}" srcId="{37EAD4E3-2F08-435A-B413-7D052C8EAAB7}" destId="{255CA914-0AC5-42A4-85F8-A1AA34A26D50}" srcOrd="2" destOrd="0" parTransId="{E05CB381-E9A9-4BF2-AACB-A42D5FAB2972}" sibTransId="{088D5AD7-07CD-416A-89EE-193E827D965A}"/>
    <dgm:cxn modelId="{551AF37E-ADA8-45BC-A0B9-FAA936FF8811}" srcId="{37EAD4E3-2F08-435A-B413-7D052C8EAAB7}" destId="{98B456CF-83C0-46CC-9421-4A3021C5C5E8}" srcOrd="0" destOrd="0" parTransId="{13BD09D0-714A-48BF-BC28-72E0F9A5B2F7}" sibTransId="{992E3628-269A-41CE-9BD6-6E0F83D3577B}"/>
    <dgm:cxn modelId="{DB866386-E560-4B14-A26A-9CCDDFA67D23}" type="presOf" srcId="{37EAD4E3-2F08-435A-B413-7D052C8EAAB7}" destId="{E475ED7D-194B-4BA6-B5DC-2617C5B4A260}" srcOrd="0" destOrd="0" presId="urn:microsoft.com/office/officeart/2018/2/layout/IconVerticalSolidList"/>
    <dgm:cxn modelId="{D997919A-CF3B-475C-BE65-5D4FEC2492ED}" type="presOf" srcId="{255CA914-0AC5-42A4-85F8-A1AA34A26D50}" destId="{26BD9BEE-4845-45DE-BD7E-C32D1835F850}" srcOrd="0" destOrd="0" presId="urn:microsoft.com/office/officeart/2018/2/layout/IconVerticalSolidList"/>
    <dgm:cxn modelId="{BD7293C5-2CF0-4ABF-B544-D3DF71B4165A}" type="presOf" srcId="{61256486-F227-4BC7-AD07-A7D6B8FE6276}" destId="{392D9E40-A437-47F2-A2BB-9B66C6668EF2}" srcOrd="0" destOrd="0" presId="urn:microsoft.com/office/officeart/2018/2/layout/IconVerticalSolidList"/>
    <dgm:cxn modelId="{E9A917DE-ACD5-4AA6-8414-846BA50CB61D}" type="presOf" srcId="{98B456CF-83C0-46CC-9421-4A3021C5C5E8}" destId="{B3496F82-8305-4BFE-8162-9D5718138B06}" srcOrd="0" destOrd="0" presId="urn:microsoft.com/office/officeart/2018/2/layout/IconVerticalSolidList"/>
    <dgm:cxn modelId="{29ECCCF5-6DF9-4307-A3FD-B1B11A908647}" srcId="{37EAD4E3-2F08-435A-B413-7D052C8EAAB7}" destId="{61256486-F227-4BC7-AD07-A7D6B8FE6276}" srcOrd="1" destOrd="0" parTransId="{6CEF853E-1613-4078-A72A-EC0D0B83C3AD}" sibTransId="{AB17F8EF-AC23-435B-B4C5-1D9413BD8651}"/>
    <dgm:cxn modelId="{E8996414-20B5-46AA-98CF-3198FD403B14}" type="presParOf" srcId="{E475ED7D-194B-4BA6-B5DC-2617C5B4A260}" destId="{57A2A89E-00CF-4ED7-B4C4-46DBF90CD7BB}" srcOrd="0" destOrd="0" presId="urn:microsoft.com/office/officeart/2018/2/layout/IconVerticalSolidList"/>
    <dgm:cxn modelId="{6A09FE61-C991-4142-82A9-54A4E52FEA26}" type="presParOf" srcId="{57A2A89E-00CF-4ED7-B4C4-46DBF90CD7BB}" destId="{61FE5634-8FED-465D-B6C0-06376D32F50D}" srcOrd="0" destOrd="0" presId="urn:microsoft.com/office/officeart/2018/2/layout/IconVerticalSolidList"/>
    <dgm:cxn modelId="{046CA1C3-FDDB-4632-AA71-A2642EC9AE0A}" type="presParOf" srcId="{57A2A89E-00CF-4ED7-B4C4-46DBF90CD7BB}" destId="{70958884-D2CE-4D7E-90EE-D4BE8619C7E8}" srcOrd="1" destOrd="0" presId="urn:microsoft.com/office/officeart/2018/2/layout/IconVerticalSolidList"/>
    <dgm:cxn modelId="{4A44F629-7C46-41F7-9734-95DA827DF13E}" type="presParOf" srcId="{57A2A89E-00CF-4ED7-B4C4-46DBF90CD7BB}" destId="{05F4237C-6AAC-4000-A9AA-F6370BD49AC5}" srcOrd="2" destOrd="0" presId="urn:microsoft.com/office/officeart/2018/2/layout/IconVerticalSolidList"/>
    <dgm:cxn modelId="{FF55B8CD-8CA8-46BC-B31F-9F161B70A17D}" type="presParOf" srcId="{57A2A89E-00CF-4ED7-B4C4-46DBF90CD7BB}" destId="{B3496F82-8305-4BFE-8162-9D5718138B06}" srcOrd="3" destOrd="0" presId="urn:microsoft.com/office/officeart/2018/2/layout/IconVerticalSolidList"/>
    <dgm:cxn modelId="{855672F2-FEDC-4969-8852-A61A6C791D24}" type="presParOf" srcId="{E475ED7D-194B-4BA6-B5DC-2617C5B4A260}" destId="{295ED0AD-6F74-4761-8E24-B7FA38955358}" srcOrd="1" destOrd="0" presId="urn:microsoft.com/office/officeart/2018/2/layout/IconVerticalSolidList"/>
    <dgm:cxn modelId="{335035FE-A154-4290-89B4-B237E5AAD45F}" type="presParOf" srcId="{E475ED7D-194B-4BA6-B5DC-2617C5B4A260}" destId="{D85C822B-9C08-4DA1-8E5B-E509D07CD8CC}" srcOrd="2" destOrd="0" presId="urn:microsoft.com/office/officeart/2018/2/layout/IconVerticalSolidList"/>
    <dgm:cxn modelId="{D65885D7-9343-4401-9CC2-22366AE439FF}" type="presParOf" srcId="{D85C822B-9C08-4DA1-8E5B-E509D07CD8CC}" destId="{37DC0B26-8375-43FA-A039-7CE58C0719BC}" srcOrd="0" destOrd="0" presId="urn:microsoft.com/office/officeart/2018/2/layout/IconVerticalSolidList"/>
    <dgm:cxn modelId="{5277F4EB-D3C8-4F9E-A771-72C69DA82F23}" type="presParOf" srcId="{D85C822B-9C08-4DA1-8E5B-E509D07CD8CC}" destId="{E1BC6181-5005-4EE6-95B9-E9A9DF44E851}" srcOrd="1" destOrd="0" presId="urn:microsoft.com/office/officeart/2018/2/layout/IconVerticalSolidList"/>
    <dgm:cxn modelId="{731EDCBF-8238-4DCC-8EEE-E6CE5A1DFEDA}" type="presParOf" srcId="{D85C822B-9C08-4DA1-8E5B-E509D07CD8CC}" destId="{E0918B9E-C644-4925-9F6D-C2D4038CF5F6}" srcOrd="2" destOrd="0" presId="urn:microsoft.com/office/officeart/2018/2/layout/IconVerticalSolidList"/>
    <dgm:cxn modelId="{3516C839-C7D2-4502-9C05-1EDF453FBEF6}" type="presParOf" srcId="{D85C822B-9C08-4DA1-8E5B-E509D07CD8CC}" destId="{392D9E40-A437-47F2-A2BB-9B66C6668EF2}" srcOrd="3" destOrd="0" presId="urn:microsoft.com/office/officeart/2018/2/layout/IconVerticalSolidList"/>
    <dgm:cxn modelId="{AF54FD1B-1FB6-4C18-A8A2-648E5F708E84}" type="presParOf" srcId="{E475ED7D-194B-4BA6-B5DC-2617C5B4A260}" destId="{47A6A18B-B8F1-433E-B3CC-CECDF1468657}" srcOrd="3" destOrd="0" presId="urn:microsoft.com/office/officeart/2018/2/layout/IconVerticalSolidList"/>
    <dgm:cxn modelId="{E2864060-FE2C-40E8-A28D-28AF8A89FC41}" type="presParOf" srcId="{E475ED7D-194B-4BA6-B5DC-2617C5B4A260}" destId="{F1D3A89C-4F9E-4C89-B733-1B32B253C012}" srcOrd="4" destOrd="0" presId="urn:microsoft.com/office/officeart/2018/2/layout/IconVerticalSolidList"/>
    <dgm:cxn modelId="{F6571682-F9F5-41B5-8E71-8B3A08412A12}" type="presParOf" srcId="{F1D3A89C-4F9E-4C89-B733-1B32B253C012}" destId="{C202CC21-F8A2-4F63-9595-2E698AD02321}" srcOrd="0" destOrd="0" presId="urn:microsoft.com/office/officeart/2018/2/layout/IconVerticalSolidList"/>
    <dgm:cxn modelId="{80F62068-A328-4DBD-9F49-C5E1D3563F6C}" type="presParOf" srcId="{F1D3A89C-4F9E-4C89-B733-1B32B253C012}" destId="{E1F36BAA-7C38-4EDE-B506-D57F0C34200F}" srcOrd="1" destOrd="0" presId="urn:microsoft.com/office/officeart/2018/2/layout/IconVerticalSolidList"/>
    <dgm:cxn modelId="{60CC57B2-3B11-4537-8E06-0394E1653119}" type="presParOf" srcId="{F1D3A89C-4F9E-4C89-B733-1B32B253C012}" destId="{9A9AE809-6324-4972-9E1C-7EC32D8325EB}" srcOrd="2" destOrd="0" presId="urn:microsoft.com/office/officeart/2018/2/layout/IconVerticalSolidList"/>
    <dgm:cxn modelId="{8A21D4F6-2C0B-4F7B-B19C-A0EA951BA1F9}" type="presParOf" srcId="{F1D3A89C-4F9E-4C89-B733-1B32B253C012}" destId="{26BD9BEE-4845-45DE-BD7E-C32D1835F85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2C8D8D-F422-4D55-8EFA-7289C71B23D1}" type="doc">
      <dgm:prSet loTypeId="urn:microsoft.com/office/officeart/2005/8/layout/hList1" loCatId="list" qsTypeId="urn:microsoft.com/office/officeart/2005/8/quickstyle/simple2" qsCatId="simple" csTypeId="urn:microsoft.com/office/officeart/2005/8/colors/accent5_2" csCatId="accent5" phldr="1"/>
      <dgm:spPr/>
      <dgm:t>
        <a:bodyPr/>
        <a:lstStyle/>
        <a:p>
          <a:endParaRPr lang="en-US"/>
        </a:p>
      </dgm:t>
    </dgm:pt>
    <dgm:pt modelId="{11CCC86B-F483-4094-8257-37BFD4CDC371}">
      <dgm:prSet/>
      <dgm:spPr/>
      <dgm:t>
        <a:bodyPr/>
        <a:lstStyle/>
        <a:p>
          <a:r>
            <a:rPr lang="en-US" dirty="0">
              <a:latin typeface="Arial" panose="020B0604020202020204" pitchFamily="34" charset="0"/>
              <a:cs typeface="Arial" panose="020B0604020202020204" pitchFamily="34" charset="0"/>
            </a:rPr>
            <a:t>Goal</a:t>
          </a:r>
        </a:p>
      </dgm:t>
    </dgm:pt>
    <dgm:pt modelId="{4C193B86-BD20-44DF-B00D-415D6523209D}" type="parTrans" cxnId="{9745E6EF-7846-4276-8C81-99DBD5DE03B4}">
      <dgm:prSet/>
      <dgm:spPr/>
      <dgm:t>
        <a:bodyPr/>
        <a:lstStyle/>
        <a:p>
          <a:endParaRPr lang="en-US" sz="2000">
            <a:latin typeface="Arial" panose="020B0604020202020204" pitchFamily="34" charset="0"/>
            <a:cs typeface="Arial" panose="020B0604020202020204" pitchFamily="34" charset="0"/>
          </a:endParaRPr>
        </a:p>
      </dgm:t>
    </dgm:pt>
    <dgm:pt modelId="{34262DDA-D51D-45ED-AE00-445ED00C25AC}" type="sibTrans" cxnId="{9745E6EF-7846-4276-8C81-99DBD5DE03B4}">
      <dgm:prSet/>
      <dgm:spPr/>
      <dgm:t>
        <a:bodyPr/>
        <a:lstStyle/>
        <a:p>
          <a:endParaRPr lang="en-US">
            <a:latin typeface="Arial" panose="020B0604020202020204" pitchFamily="34" charset="0"/>
            <a:cs typeface="Arial" panose="020B0604020202020204" pitchFamily="34" charset="0"/>
          </a:endParaRPr>
        </a:p>
      </dgm:t>
    </dgm:pt>
    <dgm:pt modelId="{4B21806F-CA9F-41BC-96E3-004B6AAC48C9}">
      <dgm:prSet/>
      <dgm:spPr/>
      <dgm:t>
        <a:bodyPr/>
        <a:lstStyle/>
        <a:p>
          <a:r>
            <a:rPr lang="en-US" dirty="0">
              <a:latin typeface="+mn-lt"/>
              <a:cs typeface="Arial" panose="020B0604020202020204" pitchFamily="34" charset="0"/>
            </a:rPr>
            <a:t>The Goal of Care At Home is to realize better outcomes for patients as they transition home from the hospital, lower </a:t>
          </a:r>
          <a:r>
            <a:rPr lang="en-US">
              <a:latin typeface="+mn-lt"/>
              <a:cs typeface="Arial" panose="020B0604020202020204" pitchFamily="34" charset="0"/>
            </a:rPr>
            <a:t>healthcare costs, </a:t>
          </a:r>
          <a:r>
            <a:rPr lang="en-US" dirty="0">
              <a:latin typeface="+mn-lt"/>
              <a:cs typeface="Arial" panose="020B0604020202020204" pitchFamily="34" charset="0"/>
            </a:rPr>
            <a:t>and be a model for addressing what truly determines good health.</a:t>
          </a:r>
        </a:p>
      </dgm:t>
    </dgm:pt>
    <dgm:pt modelId="{190D1059-F045-4925-99ED-6EE659997FB5}" type="parTrans" cxnId="{B4903A9A-9DD8-4224-A518-83CC3431C797}">
      <dgm:prSet/>
      <dgm:spPr/>
      <dgm:t>
        <a:bodyPr/>
        <a:lstStyle/>
        <a:p>
          <a:endParaRPr lang="en-US" sz="2000">
            <a:latin typeface="Arial" panose="020B0604020202020204" pitchFamily="34" charset="0"/>
            <a:cs typeface="Arial" panose="020B0604020202020204" pitchFamily="34" charset="0"/>
          </a:endParaRPr>
        </a:p>
      </dgm:t>
    </dgm:pt>
    <dgm:pt modelId="{09D338FA-887C-4915-9BE2-DB74E4244CEA}" type="sibTrans" cxnId="{B4903A9A-9DD8-4224-A518-83CC3431C797}">
      <dgm:prSet/>
      <dgm:spPr/>
      <dgm:t>
        <a:bodyPr/>
        <a:lstStyle/>
        <a:p>
          <a:endParaRPr lang="en-US">
            <a:latin typeface="Arial" panose="020B0604020202020204" pitchFamily="34" charset="0"/>
            <a:cs typeface="Arial" panose="020B0604020202020204" pitchFamily="34" charset="0"/>
          </a:endParaRPr>
        </a:p>
      </dgm:t>
    </dgm:pt>
    <dgm:pt modelId="{769CA626-2541-43DB-B989-9EB84A76E606}">
      <dgm:prSet/>
      <dgm:spPr/>
      <dgm:t>
        <a:bodyPr/>
        <a:lstStyle/>
        <a:p>
          <a:r>
            <a:rPr lang="en-US">
              <a:latin typeface="Arial" panose="020B0604020202020204" pitchFamily="34" charset="0"/>
              <a:cs typeface="Arial" panose="020B0604020202020204" pitchFamily="34" charset="0"/>
            </a:rPr>
            <a:t>Locations</a:t>
          </a:r>
        </a:p>
      </dgm:t>
    </dgm:pt>
    <dgm:pt modelId="{FAB7D305-A5CD-493F-9B15-1B7F465FACAB}" type="parTrans" cxnId="{BD762DB6-DB14-49F7-BF49-63BA3EAC1E25}">
      <dgm:prSet/>
      <dgm:spPr/>
      <dgm:t>
        <a:bodyPr/>
        <a:lstStyle/>
        <a:p>
          <a:endParaRPr lang="en-US" sz="2000">
            <a:latin typeface="Arial" panose="020B0604020202020204" pitchFamily="34" charset="0"/>
            <a:cs typeface="Arial" panose="020B0604020202020204" pitchFamily="34" charset="0"/>
          </a:endParaRPr>
        </a:p>
      </dgm:t>
    </dgm:pt>
    <dgm:pt modelId="{D8A2065C-FAB1-455B-9773-647FEF80D442}" type="sibTrans" cxnId="{BD762DB6-DB14-49F7-BF49-63BA3EAC1E25}">
      <dgm:prSet/>
      <dgm:spPr/>
      <dgm:t>
        <a:bodyPr/>
        <a:lstStyle/>
        <a:p>
          <a:endParaRPr lang="en-US">
            <a:latin typeface="Arial" panose="020B0604020202020204" pitchFamily="34" charset="0"/>
            <a:cs typeface="Arial" panose="020B0604020202020204" pitchFamily="34" charset="0"/>
          </a:endParaRPr>
        </a:p>
      </dgm:t>
    </dgm:pt>
    <dgm:pt modelId="{85715DC8-2EDF-4D8E-89E0-10BFAB6B8F32}">
      <dgm:prSet/>
      <dgm:spPr/>
      <dgm:t>
        <a:bodyPr/>
        <a:lstStyle/>
        <a:p>
          <a:r>
            <a:rPr lang="en-US" dirty="0">
              <a:latin typeface="+mn-lt"/>
              <a:cs typeface="Arial" panose="020B0604020202020204" pitchFamily="34" charset="0"/>
            </a:rPr>
            <a:t>Orange County, California </a:t>
          </a:r>
        </a:p>
      </dgm:t>
    </dgm:pt>
    <dgm:pt modelId="{74AF40FD-94F9-4D12-A9D8-38658DB7C00A}" type="parTrans" cxnId="{974FEE6C-8401-4FE3-B1C4-440A17F64174}">
      <dgm:prSet/>
      <dgm:spPr/>
      <dgm:t>
        <a:bodyPr/>
        <a:lstStyle/>
        <a:p>
          <a:endParaRPr lang="en-US" sz="2000">
            <a:latin typeface="Arial" panose="020B0604020202020204" pitchFamily="34" charset="0"/>
            <a:cs typeface="Arial" panose="020B0604020202020204" pitchFamily="34" charset="0"/>
          </a:endParaRPr>
        </a:p>
      </dgm:t>
    </dgm:pt>
    <dgm:pt modelId="{A7FC0DAB-419C-4FFB-B092-3C4355FDA004}" type="sibTrans" cxnId="{974FEE6C-8401-4FE3-B1C4-440A17F64174}">
      <dgm:prSet/>
      <dgm:spPr/>
      <dgm:t>
        <a:bodyPr/>
        <a:lstStyle/>
        <a:p>
          <a:endParaRPr lang="en-US">
            <a:latin typeface="Arial" panose="020B0604020202020204" pitchFamily="34" charset="0"/>
            <a:cs typeface="Arial" panose="020B0604020202020204" pitchFamily="34" charset="0"/>
          </a:endParaRPr>
        </a:p>
      </dgm:t>
    </dgm:pt>
    <dgm:pt modelId="{BC6F57B1-7621-F34B-BF2F-21784E5C6493}">
      <dgm:prSet/>
      <dgm:spPr/>
      <dgm:t>
        <a:bodyPr/>
        <a:lstStyle/>
        <a:p>
          <a:r>
            <a:rPr lang="en-US" dirty="0">
              <a:latin typeface="+mn-lt"/>
              <a:cs typeface="Arial" panose="020B0604020202020204" pitchFamily="34" charset="0"/>
            </a:rPr>
            <a:t>Inland Empire, California.</a:t>
          </a:r>
        </a:p>
      </dgm:t>
    </dgm:pt>
    <dgm:pt modelId="{B8AA0E92-0F20-0F43-86CE-18BB63B95090}" type="parTrans" cxnId="{5F26B8B9-CAD2-924D-8F46-908B073E47FA}">
      <dgm:prSet/>
      <dgm:spPr/>
      <dgm:t>
        <a:bodyPr/>
        <a:lstStyle/>
        <a:p>
          <a:endParaRPr lang="en-US"/>
        </a:p>
      </dgm:t>
    </dgm:pt>
    <dgm:pt modelId="{2415C9ED-5674-5E46-ACAC-48010A5F6C83}" type="sibTrans" cxnId="{5F26B8B9-CAD2-924D-8F46-908B073E47FA}">
      <dgm:prSet/>
      <dgm:spPr/>
      <dgm:t>
        <a:bodyPr/>
        <a:lstStyle/>
        <a:p>
          <a:endParaRPr lang="en-US"/>
        </a:p>
      </dgm:t>
    </dgm:pt>
    <dgm:pt modelId="{CAE414A6-FC95-3844-95D4-973063F5DD35}" type="pres">
      <dgm:prSet presAssocID="{8B2C8D8D-F422-4D55-8EFA-7289C71B23D1}" presName="Name0" presStyleCnt="0">
        <dgm:presLayoutVars>
          <dgm:dir/>
          <dgm:animLvl val="lvl"/>
          <dgm:resizeHandles val="exact"/>
        </dgm:presLayoutVars>
      </dgm:prSet>
      <dgm:spPr/>
    </dgm:pt>
    <dgm:pt modelId="{30FF04DC-8BE3-9C4F-AE20-F76B9CFF481E}" type="pres">
      <dgm:prSet presAssocID="{11CCC86B-F483-4094-8257-37BFD4CDC371}" presName="composite" presStyleCnt="0"/>
      <dgm:spPr/>
    </dgm:pt>
    <dgm:pt modelId="{017D9C9E-0405-2948-9E96-618B5CEF2E21}" type="pres">
      <dgm:prSet presAssocID="{11CCC86B-F483-4094-8257-37BFD4CDC371}" presName="parTx" presStyleLbl="alignNode1" presStyleIdx="0" presStyleCnt="2">
        <dgm:presLayoutVars>
          <dgm:chMax val="0"/>
          <dgm:chPref val="0"/>
          <dgm:bulletEnabled val="1"/>
        </dgm:presLayoutVars>
      </dgm:prSet>
      <dgm:spPr/>
    </dgm:pt>
    <dgm:pt modelId="{34C9941B-9119-7E49-BC62-DD7228C2E9A4}" type="pres">
      <dgm:prSet presAssocID="{11CCC86B-F483-4094-8257-37BFD4CDC371}" presName="desTx" presStyleLbl="alignAccFollowNode1" presStyleIdx="0" presStyleCnt="2">
        <dgm:presLayoutVars>
          <dgm:bulletEnabled val="1"/>
        </dgm:presLayoutVars>
      </dgm:prSet>
      <dgm:spPr/>
    </dgm:pt>
    <dgm:pt modelId="{7452E7E9-D7BB-EE4F-B08D-21D4777B9D40}" type="pres">
      <dgm:prSet presAssocID="{34262DDA-D51D-45ED-AE00-445ED00C25AC}" presName="space" presStyleCnt="0"/>
      <dgm:spPr/>
    </dgm:pt>
    <dgm:pt modelId="{1DC500BC-D938-C541-85B3-9D24C3E792E5}" type="pres">
      <dgm:prSet presAssocID="{769CA626-2541-43DB-B989-9EB84A76E606}" presName="composite" presStyleCnt="0"/>
      <dgm:spPr/>
    </dgm:pt>
    <dgm:pt modelId="{364FBEA2-9F2F-044B-A420-8572AB2A8328}" type="pres">
      <dgm:prSet presAssocID="{769CA626-2541-43DB-B989-9EB84A76E606}" presName="parTx" presStyleLbl="alignNode1" presStyleIdx="1" presStyleCnt="2">
        <dgm:presLayoutVars>
          <dgm:chMax val="0"/>
          <dgm:chPref val="0"/>
          <dgm:bulletEnabled val="1"/>
        </dgm:presLayoutVars>
      </dgm:prSet>
      <dgm:spPr/>
    </dgm:pt>
    <dgm:pt modelId="{B99AFE15-8876-5A4D-8627-9889EC15FF29}" type="pres">
      <dgm:prSet presAssocID="{769CA626-2541-43DB-B989-9EB84A76E606}" presName="desTx" presStyleLbl="alignAccFollowNode1" presStyleIdx="1" presStyleCnt="2">
        <dgm:presLayoutVars>
          <dgm:bulletEnabled val="1"/>
        </dgm:presLayoutVars>
      </dgm:prSet>
      <dgm:spPr/>
    </dgm:pt>
  </dgm:ptLst>
  <dgm:cxnLst>
    <dgm:cxn modelId="{D93C2B24-36A8-F944-96CC-F6B847694FB7}" type="presOf" srcId="{4B21806F-CA9F-41BC-96E3-004B6AAC48C9}" destId="{34C9941B-9119-7E49-BC62-DD7228C2E9A4}" srcOrd="0" destOrd="0" presId="urn:microsoft.com/office/officeart/2005/8/layout/hList1"/>
    <dgm:cxn modelId="{83533A25-F2A9-1B4D-9795-6B36E453377E}" type="presOf" srcId="{85715DC8-2EDF-4D8E-89E0-10BFAB6B8F32}" destId="{B99AFE15-8876-5A4D-8627-9889EC15FF29}" srcOrd="0" destOrd="0" presId="urn:microsoft.com/office/officeart/2005/8/layout/hList1"/>
    <dgm:cxn modelId="{974FEE6C-8401-4FE3-B1C4-440A17F64174}" srcId="{769CA626-2541-43DB-B989-9EB84A76E606}" destId="{85715DC8-2EDF-4D8E-89E0-10BFAB6B8F32}" srcOrd="0" destOrd="0" parTransId="{74AF40FD-94F9-4D12-A9D8-38658DB7C00A}" sibTransId="{A7FC0DAB-419C-4FFB-B092-3C4355FDA004}"/>
    <dgm:cxn modelId="{BD521F86-3CD8-354D-AC18-8B45AF52B956}" type="presOf" srcId="{769CA626-2541-43DB-B989-9EB84A76E606}" destId="{364FBEA2-9F2F-044B-A420-8572AB2A8328}" srcOrd="0" destOrd="0" presId="urn:microsoft.com/office/officeart/2005/8/layout/hList1"/>
    <dgm:cxn modelId="{B4903A9A-9DD8-4224-A518-83CC3431C797}" srcId="{11CCC86B-F483-4094-8257-37BFD4CDC371}" destId="{4B21806F-CA9F-41BC-96E3-004B6AAC48C9}" srcOrd="0" destOrd="0" parTransId="{190D1059-F045-4925-99ED-6EE659997FB5}" sibTransId="{09D338FA-887C-4915-9BE2-DB74E4244CEA}"/>
    <dgm:cxn modelId="{CEF85C9F-B160-8140-AA40-8AEA47B99BF6}" type="presOf" srcId="{BC6F57B1-7621-F34B-BF2F-21784E5C6493}" destId="{B99AFE15-8876-5A4D-8627-9889EC15FF29}" srcOrd="0" destOrd="1" presId="urn:microsoft.com/office/officeart/2005/8/layout/hList1"/>
    <dgm:cxn modelId="{BD762DB6-DB14-49F7-BF49-63BA3EAC1E25}" srcId="{8B2C8D8D-F422-4D55-8EFA-7289C71B23D1}" destId="{769CA626-2541-43DB-B989-9EB84A76E606}" srcOrd="1" destOrd="0" parTransId="{FAB7D305-A5CD-493F-9B15-1B7F465FACAB}" sibTransId="{D8A2065C-FAB1-455B-9773-647FEF80D442}"/>
    <dgm:cxn modelId="{5F26B8B9-CAD2-924D-8F46-908B073E47FA}" srcId="{769CA626-2541-43DB-B989-9EB84A76E606}" destId="{BC6F57B1-7621-F34B-BF2F-21784E5C6493}" srcOrd="1" destOrd="0" parTransId="{B8AA0E92-0F20-0F43-86CE-18BB63B95090}" sibTransId="{2415C9ED-5674-5E46-ACAC-48010A5F6C83}"/>
    <dgm:cxn modelId="{8FC639C7-70D3-B543-9D4C-FE8858E0C874}" type="presOf" srcId="{8B2C8D8D-F422-4D55-8EFA-7289C71B23D1}" destId="{CAE414A6-FC95-3844-95D4-973063F5DD35}" srcOrd="0" destOrd="0" presId="urn:microsoft.com/office/officeart/2005/8/layout/hList1"/>
    <dgm:cxn modelId="{247829CC-AC97-FB4F-B995-2CF3D747058B}" type="presOf" srcId="{11CCC86B-F483-4094-8257-37BFD4CDC371}" destId="{017D9C9E-0405-2948-9E96-618B5CEF2E21}" srcOrd="0" destOrd="0" presId="urn:microsoft.com/office/officeart/2005/8/layout/hList1"/>
    <dgm:cxn modelId="{9745E6EF-7846-4276-8C81-99DBD5DE03B4}" srcId="{8B2C8D8D-F422-4D55-8EFA-7289C71B23D1}" destId="{11CCC86B-F483-4094-8257-37BFD4CDC371}" srcOrd="0" destOrd="0" parTransId="{4C193B86-BD20-44DF-B00D-415D6523209D}" sibTransId="{34262DDA-D51D-45ED-AE00-445ED00C25AC}"/>
    <dgm:cxn modelId="{D1A386D6-CBED-E342-9050-8A4FB73579D4}" type="presParOf" srcId="{CAE414A6-FC95-3844-95D4-973063F5DD35}" destId="{30FF04DC-8BE3-9C4F-AE20-F76B9CFF481E}" srcOrd="0" destOrd="0" presId="urn:microsoft.com/office/officeart/2005/8/layout/hList1"/>
    <dgm:cxn modelId="{93BD286B-C1D7-6C40-863F-46EF4C0FA42E}" type="presParOf" srcId="{30FF04DC-8BE3-9C4F-AE20-F76B9CFF481E}" destId="{017D9C9E-0405-2948-9E96-618B5CEF2E21}" srcOrd="0" destOrd="0" presId="urn:microsoft.com/office/officeart/2005/8/layout/hList1"/>
    <dgm:cxn modelId="{EA5EFA4F-94FB-2849-A92B-BB8AF51DF898}" type="presParOf" srcId="{30FF04DC-8BE3-9C4F-AE20-F76B9CFF481E}" destId="{34C9941B-9119-7E49-BC62-DD7228C2E9A4}" srcOrd="1" destOrd="0" presId="urn:microsoft.com/office/officeart/2005/8/layout/hList1"/>
    <dgm:cxn modelId="{070D3742-2574-9344-9E9D-C40284DB9387}" type="presParOf" srcId="{CAE414A6-FC95-3844-95D4-973063F5DD35}" destId="{7452E7E9-D7BB-EE4F-B08D-21D4777B9D40}" srcOrd="1" destOrd="0" presId="urn:microsoft.com/office/officeart/2005/8/layout/hList1"/>
    <dgm:cxn modelId="{5617982B-E60E-B44D-8563-D0AF39B2970D}" type="presParOf" srcId="{CAE414A6-FC95-3844-95D4-973063F5DD35}" destId="{1DC500BC-D938-C541-85B3-9D24C3E792E5}" srcOrd="2" destOrd="0" presId="urn:microsoft.com/office/officeart/2005/8/layout/hList1"/>
    <dgm:cxn modelId="{0D04187D-4793-204C-B995-3AC2089D3650}" type="presParOf" srcId="{1DC500BC-D938-C541-85B3-9D24C3E792E5}" destId="{364FBEA2-9F2F-044B-A420-8572AB2A8328}" srcOrd="0" destOrd="0" presId="urn:microsoft.com/office/officeart/2005/8/layout/hList1"/>
    <dgm:cxn modelId="{8A3596F6-0887-7F40-A5F0-BD1FF09B6B98}" type="presParOf" srcId="{1DC500BC-D938-C541-85B3-9D24C3E792E5}" destId="{B99AFE15-8876-5A4D-8627-9889EC15FF2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9E33A3-7183-4F5A-A57D-939F09D5637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D0E3BBF-85D6-48EA-A6ED-D961FFF65883}">
      <dgm:prSet/>
      <dgm:spPr/>
      <dgm:t>
        <a:bodyPr/>
        <a:lstStyle/>
        <a:p>
          <a:r>
            <a:rPr lang="en-US" b="1"/>
            <a:t>Prevents Unauthorized Access </a:t>
          </a:r>
          <a:r>
            <a:rPr lang="en-US"/>
            <a:t>– Data breaches often stem from improper access control. Classifying data ensures that only authorized personnel handle sensitive information.</a:t>
          </a:r>
        </a:p>
      </dgm:t>
    </dgm:pt>
    <dgm:pt modelId="{81DB9680-4468-4F62-8AC5-0F1FA86CCFB0}" type="parTrans" cxnId="{84519EDD-98AA-49F9-BAAF-2B4EE03038AF}">
      <dgm:prSet/>
      <dgm:spPr/>
      <dgm:t>
        <a:bodyPr/>
        <a:lstStyle/>
        <a:p>
          <a:endParaRPr lang="en-US"/>
        </a:p>
      </dgm:t>
    </dgm:pt>
    <dgm:pt modelId="{6112EEBF-1D99-436F-AE66-A4801F587A51}" type="sibTrans" cxnId="{84519EDD-98AA-49F9-BAAF-2B4EE03038AF}">
      <dgm:prSet/>
      <dgm:spPr/>
      <dgm:t>
        <a:bodyPr/>
        <a:lstStyle/>
        <a:p>
          <a:endParaRPr lang="en-US"/>
        </a:p>
      </dgm:t>
    </dgm:pt>
    <dgm:pt modelId="{C6FEE8BD-656F-4386-9852-6C95AE0BD09E}">
      <dgm:prSet/>
      <dgm:spPr/>
      <dgm:t>
        <a:bodyPr/>
        <a:lstStyle/>
        <a:p>
          <a:r>
            <a:rPr lang="en-US" b="1"/>
            <a:t>Ensures Regulatory Compliance </a:t>
          </a:r>
          <a:r>
            <a:rPr lang="en-US"/>
            <a:t>– (HIPAA) mandates the protection of patient information. Classification helps meet legal and industry standards.</a:t>
          </a:r>
        </a:p>
      </dgm:t>
    </dgm:pt>
    <dgm:pt modelId="{A79C4BFF-D937-43B7-8004-CCCF6213F366}" type="parTrans" cxnId="{128BE26C-8D07-4945-946E-6C3AE3D3E812}">
      <dgm:prSet/>
      <dgm:spPr/>
      <dgm:t>
        <a:bodyPr/>
        <a:lstStyle/>
        <a:p>
          <a:endParaRPr lang="en-US"/>
        </a:p>
      </dgm:t>
    </dgm:pt>
    <dgm:pt modelId="{3806295A-8863-457E-85BB-E5F778787938}" type="sibTrans" cxnId="{128BE26C-8D07-4945-946E-6C3AE3D3E812}">
      <dgm:prSet/>
      <dgm:spPr/>
      <dgm:t>
        <a:bodyPr/>
        <a:lstStyle/>
        <a:p>
          <a:endParaRPr lang="en-US"/>
        </a:p>
      </dgm:t>
    </dgm:pt>
    <dgm:pt modelId="{B39D19E4-E318-47D2-AC65-996E2815D55A}">
      <dgm:prSet/>
      <dgm:spPr/>
      <dgm:t>
        <a:bodyPr/>
        <a:lstStyle/>
        <a:p>
          <a:r>
            <a:rPr lang="en-US" b="1"/>
            <a:t>Enhances Security Measures </a:t>
          </a:r>
          <a:r>
            <a:rPr lang="en-US"/>
            <a:t>– Knowing the sensitivity of data allows for tailored security controls (e.g., encryption for financial data).</a:t>
          </a:r>
        </a:p>
      </dgm:t>
    </dgm:pt>
    <dgm:pt modelId="{46136662-E6D4-4DA6-9CB8-4CE3FC312C3A}" type="parTrans" cxnId="{E0AE8160-A296-400C-B617-9D222FF18777}">
      <dgm:prSet/>
      <dgm:spPr/>
      <dgm:t>
        <a:bodyPr/>
        <a:lstStyle/>
        <a:p>
          <a:endParaRPr lang="en-US"/>
        </a:p>
      </dgm:t>
    </dgm:pt>
    <dgm:pt modelId="{0A7C7E60-F950-4EB3-93F2-6AB92FE4CEF6}" type="sibTrans" cxnId="{E0AE8160-A296-400C-B617-9D222FF18777}">
      <dgm:prSet/>
      <dgm:spPr/>
      <dgm:t>
        <a:bodyPr/>
        <a:lstStyle/>
        <a:p>
          <a:endParaRPr lang="en-US"/>
        </a:p>
      </dgm:t>
    </dgm:pt>
    <dgm:pt modelId="{01F77A99-B91E-4CB9-ABBB-48DCF783E427}">
      <dgm:prSet/>
      <dgm:spPr/>
      <dgm:t>
        <a:bodyPr/>
        <a:lstStyle/>
        <a:p>
          <a:r>
            <a:rPr lang="en-US" b="1"/>
            <a:t>Improves Operational Efficiency </a:t>
          </a:r>
          <a:r>
            <a:rPr lang="en-US"/>
            <a:t>– Organized data storage prevents mismanagement and accidental exposure.</a:t>
          </a:r>
        </a:p>
      </dgm:t>
    </dgm:pt>
    <dgm:pt modelId="{D8146946-8235-4422-97A4-5BAC2A26CE1D}" type="parTrans" cxnId="{2D4C7A84-CB47-4097-A0D9-27EDAEA522CB}">
      <dgm:prSet/>
      <dgm:spPr/>
      <dgm:t>
        <a:bodyPr/>
        <a:lstStyle/>
        <a:p>
          <a:endParaRPr lang="en-US"/>
        </a:p>
      </dgm:t>
    </dgm:pt>
    <dgm:pt modelId="{5969A8A2-BDA9-43DF-97F8-1DA56D77979C}" type="sibTrans" cxnId="{2D4C7A84-CB47-4097-A0D9-27EDAEA522CB}">
      <dgm:prSet/>
      <dgm:spPr/>
      <dgm:t>
        <a:bodyPr/>
        <a:lstStyle/>
        <a:p>
          <a:endParaRPr lang="en-US"/>
        </a:p>
      </dgm:t>
    </dgm:pt>
    <dgm:pt modelId="{F6CF8A53-9C8F-4E68-9268-34F41CBD4D10}" type="pres">
      <dgm:prSet presAssocID="{559E33A3-7183-4F5A-A57D-939F09D5637B}" presName="root" presStyleCnt="0">
        <dgm:presLayoutVars>
          <dgm:dir/>
          <dgm:resizeHandles val="exact"/>
        </dgm:presLayoutVars>
      </dgm:prSet>
      <dgm:spPr/>
    </dgm:pt>
    <dgm:pt modelId="{0418470C-635D-4195-AA3D-AF7BDE328F78}" type="pres">
      <dgm:prSet presAssocID="{AD0E3BBF-85D6-48EA-A6ED-D961FFF65883}" presName="compNode" presStyleCnt="0"/>
      <dgm:spPr/>
    </dgm:pt>
    <dgm:pt modelId="{36E6B321-A615-49A1-A9F8-EAFD4407BC32}" type="pres">
      <dgm:prSet presAssocID="{AD0E3BBF-85D6-48EA-A6ED-D961FFF65883}" presName="bgRect" presStyleLbl="bgShp" presStyleIdx="0" presStyleCnt="4"/>
      <dgm:spPr/>
    </dgm:pt>
    <dgm:pt modelId="{E369D14F-147C-48CD-BB81-1E1F134FC528}" type="pres">
      <dgm:prSet presAssocID="{AD0E3BBF-85D6-48EA-A6ED-D961FFF6588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4FE15790-ACA8-49A7-AA88-703D157F3A0D}" type="pres">
      <dgm:prSet presAssocID="{AD0E3BBF-85D6-48EA-A6ED-D961FFF65883}" presName="spaceRect" presStyleCnt="0"/>
      <dgm:spPr/>
    </dgm:pt>
    <dgm:pt modelId="{B4B7A839-0520-4384-85B6-709F28A4D978}" type="pres">
      <dgm:prSet presAssocID="{AD0E3BBF-85D6-48EA-A6ED-D961FFF65883}" presName="parTx" presStyleLbl="revTx" presStyleIdx="0" presStyleCnt="4">
        <dgm:presLayoutVars>
          <dgm:chMax val="0"/>
          <dgm:chPref val="0"/>
        </dgm:presLayoutVars>
      </dgm:prSet>
      <dgm:spPr/>
    </dgm:pt>
    <dgm:pt modelId="{D461CAE5-D930-4DD6-939D-AB5CE36D4250}" type="pres">
      <dgm:prSet presAssocID="{6112EEBF-1D99-436F-AE66-A4801F587A51}" presName="sibTrans" presStyleCnt="0"/>
      <dgm:spPr/>
    </dgm:pt>
    <dgm:pt modelId="{65D2E9CE-1292-45AC-8E56-D4B3049DD419}" type="pres">
      <dgm:prSet presAssocID="{C6FEE8BD-656F-4386-9852-6C95AE0BD09E}" presName="compNode" presStyleCnt="0"/>
      <dgm:spPr/>
    </dgm:pt>
    <dgm:pt modelId="{D46C6438-F74E-44B7-92C3-17D79372A5F2}" type="pres">
      <dgm:prSet presAssocID="{C6FEE8BD-656F-4386-9852-6C95AE0BD09E}" presName="bgRect" presStyleLbl="bgShp" presStyleIdx="1" presStyleCnt="4"/>
      <dgm:spPr/>
    </dgm:pt>
    <dgm:pt modelId="{0716BFEC-4E17-42AB-85E0-88EFC9102CE2}" type="pres">
      <dgm:prSet presAssocID="{C6FEE8BD-656F-4386-9852-6C95AE0BD09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ospital"/>
        </a:ext>
      </dgm:extLst>
    </dgm:pt>
    <dgm:pt modelId="{62B69E1E-52C3-4418-9293-A5A29C2E4D30}" type="pres">
      <dgm:prSet presAssocID="{C6FEE8BD-656F-4386-9852-6C95AE0BD09E}" presName="spaceRect" presStyleCnt="0"/>
      <dgm:spPr/>
    </dgm:pt>
    <dgm:pt modelId="{690AE189-F118-4B18-9EC9-EB04B2C814DA}" type="pres">
      <dgm:prSet presAssocID="{C6FEE8BD-656F-4386-9852-6C95AE0BD09E}" presName="parTx" presStyleLbl="revTx" presStyleIdx="1" presStyleCnt="4">
        <dgm:presLayoutVars>
          <dgm:chMax val="0"/>
          <dgm:chPref val="0"/>
        </dgm:presLayoutVars>
      </dgm:prSet>
      <dgm:spPr/>
    </dgm:pt>
    <dgm:pt modelId="{DBEEC9C3-8F0D-440C-80BA-7C9DEB0B31A7}" type="pres">
      <dgm:prSet presAssocID="{3806295A-8863-457E-85BB-E5F778787938}" presName="sibTrans" presStyleCnt="0"/>
      <dgm:spPr/>
    </dgm:pt>
    <dgm:pt modelId="{04FED268-70D9-455A-9D49-324F442126CF}" type="pres">
      <dgm:prSet presAssocID="{B39D19E4-E318-47D2-AC65-996E2815D55A}" presName="compNode" presStyleCnt="0"/>
      <dgm:spPr/>
    </dgm:pt>
    <dgm:pt modelId="{ABE58551-3F5E-442E-9C01-1E07F1FFEE1E}" type="pres">
      <dgm:prSet presAssocID="{B39D19E4-E318-47D2-AC65-996E2815D55A}" presName="bgRect" presStyleLbl="bgShp" presStyleIdx="2" presStyleCnt="4"/>
      <dgm:spPr/>
    </dgm:pt>
    <dgm:pt modelId="{57BCEA5E-6BDD-4970-A078-99ECB6222F83}" type="pres">
      <dgm:prSet presAssocID="{B39D19E4-E318-47D2-AC65-996E2815D55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A1813444-98F5-4CF2-8FE1-607FD9E24BFC}" type="pres">
      <dgm:prSet presAssocID="{B39D19E4-E318-47D2-AC65-996E2815D55A}" presName="spaceRect" presStyleCnt="0"/>
      <dgm:spPr/>
    </dgm:pt>
    <dgm:pt modelId="{D0120C60-E006-49A0-A72A-D839B1BC376B}" type="pres">
      <dgm:prSet presAssocID="{B39D19E4-E318-47D2-AC65-996E2815D55A}" presName="parTx" presStyleLbl="revTx" presStyleIdx="2" presStyleCnt="4">
        <dgm:presLayoutVars>
          <dgm:chMax val="0"/>
          <dgm:chPref val="0"/>
        </dgm:presLayoutVars>
      </dgm:prSet>
      <dgm:spPr/>
    </dgm:pt>
    <dgm:pt modelId="{90F2A9B7-6E7F-4C75-A640-0C3C71F359CC}" type="pres">
      <dgm:prSet presAssocID="{0A7C7E60-F950-4EB3-93F2-6AB92FE4CEF6}" presName="sibTrans" presStyleCnt="0"/>
      <dgm:spPr/>
    </dgm:pt>
    <dgm:pt modelId="{D483D343-5896-4F18-84A5-D1D5D979316F}" type="pres">
      <dgm:prSet presAssocID="{01F77A99-B91E-4CB9-ABBB-48DCF783E427}" presName="compNode" presStyleCnt="0"/>
      <dgm:spPr/>
    </dgm:pt>
    <dgm:pt modelId="{BD2719CB-6221-4CCB-AF9E-44E90C06BE24}" type="pres">
      <dgm:prSet presAssocID="{01F77A99-B91E-4CB9-ABBB-48DCF783E427}" presName="bgRect" presStyleLbl="bgShp" presStyleIdx="3" presStyleCnt="4"/>
      <dgm:spPr/>
    </dgm:pt>
    <dgm:pt modelId="{0168542E-17AE-4353-BE1C-908FDB94D566}" type="pres">
      <dgm:prSet presAssocID="{01F77A99-B91E-4CB9-ABBB-48DCF783E42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9933B686-C022-4399-BE35-948B332AB6B6}" type="pres">
      <dgm:prSet presAssocID="{01F77A99-B91E-4CB9-ABBB-48DCF783E427}" presName="spaceRect" presStyleCnt="0"/>
      <dgm:spPr/>
    </dgm:pt>
    <dgm:pt modelId="{24C6C43B-7A39-4B2A-A094-E4FE9FD86ADB}" type="pres">
      <dgm:prSet presAssocID="{01F77A99-B91E-4CB9-ABBB-48DCF783E427}" presName="parTx" presStyleLbl="revTx" presStyleIdx="3" presStyleCnt="4">
        <dgm:presLayoutVars>
          <dgm:chMax val="0"/>
          <dgm:chPref val="0"/>
        </dgm:presLayoutVars>
      </dgm:prSet>
      <dgm:spPr/>
    </dgm:pt>
  </dgm:ptLst>
  <dgm:cxnLst>
    <dgm:cxn modelId="{17D25E28-9B5E-4125-A2F4-1199CE92AA95}" type="presOf" srcId="{C6FEE8BD-656F-4386-9852-6C95AE0BD09E}" destId="{690AE189-F118-4B18-9EC9-EB04B2C814DA}" srcOrd="0" destOrd="0" presId="urn:microsoft.com/office/officeart/2018/2/layout/IconVerticalSolidList"/>
    <dgm:cxn modelId="{A12DC62A-4970-47F4-8829-7922645D2BC0}" type="presOf" srcId="{B39D19E4-E318-47D2-AC65-996E2815D55A}" destId="{D0120C60-E006-49A0-A72A-D839B1BC376B}" srcOrd="0" destOrd="0" presId="urn:microsoft.com/office/officeart/2018/2/layout/IconVerticalSolidList"/>
    <dgm:cxn modelId="{089E924B-6B7D-4F9D-9C72-FFB3942CD540}" type="presOf" srcId="{01F77A99-B91E-4CB9-ABBB-48DCF783E427}" destId="{24C6C43B-7A39-4B2A-A094-E4FE9FD86ADB}" srcOrd="0" destOrd="0" presId="urn:microsoft.com/office/officeart/2018/2/layout/IconVerticalSolidList"/>
    <dgm:cxn modelId="{4BD0EE53-7534-47E2-914A-2A0360650D32}" type="presOf" srcId="{AD0E3BBF-85D6-48EA-A6ED-D961FFF65883}" destId="{B4B7A839-0520-4384-85B6-709F28A4D978}" srcOrd="0" destOrd="0" presId="urn:microsoft.com/office/officeart/2018/2/layout/IconVerticalSolidList"/>
    <dgm:cxn modelId="{E0AE8160-A296-400C-B617-9D222FF18777}" srcId="{559E33A3-7183-4F5A-A57D-939F09D5637B}" destId="{B39D19E4-E318-47D2-AC65-996E2815D55A}" srcOrd="2" destOrd="0" parTransId="{46136662-E6D4-4DA6-9CB8-4CE3FC312C3A}" sibTransId="{0A7C7E60-F950-4EB3-93F2-6AB92FE4CEF6}"/>
    <dgm:cxn modelId="{128BE26C-8D07-4945-946E-6C3AE3D3E812}" srcId="{559E33A3-7183-4F5A-A57D-939F09D5637B}" destId="{C6FEE8BD-656F-4386-9852-6C95AE0BD09E}" srcOrd="1" destOrd="0" parTransId="{A79C4BFF-D937-43B7-8004-CCCF6213F366}" sibTransId="{3806295A-8863-457E-85BB-E5F778787938}"/>
    <dgm:cxn modelId="{2D4C7A84-CB47-4097-A0D9-27EDAEA522CB}" srcId="{559E33A3-7183-4F5A-A57D-939F09D5637B}" destId="{01F77A99-B91E-4CB9-ABBB-48DCF783E427}" srcOrd="3" destOrd="0" parTransId="{D8146946-8235-4422-97A4-5BAC2A26CE1D}" sibTransId="{5969A8A2-BDA9-43DF-97F8-1DA56D77979C}"/>
    <dgm:cxn modelId="{CBD63ACC-C4B8-4F54-BF7D-FA9DE1AA8DB1}" type="presOf" srcId="{559E33A3-7183-4F5A-A57D-939F09D5637B}" destId="{F6CF8A53-9C8F-4E68-9268-34F41CBD4D10}" srcOrd="0" destOrd="0" presId="urn:microsoft.com/office/officeart/2018/2/layout/IconVerticalSolidList"/>
    <dgm:cxn modelId="{84519EDD-98AA-49F9-BAAF-2B4EE03038AF}" srcId="{559E33A3-7183-4F5A-A57D-939F09D5637B}" destId="{AD0E3BBF-85D6-48EA-A6ED-D961FFF65883}" srcOrd="0" destOrd="0" parTransId="{81DB9680-4468-4F62-8AC5-0F1FA86CCFB0}" sibTransId="{6112EEBF-1D99-436F-AE66-A4801F587A51}"/>
    <dgm:cxn modelId="{9D11A035-6B7F-40A2-A9D7-F3E3D7EBC786}" type="presParOf" srcId="{F6CF8A53-9C8F-4E68-9268-34F41CBD4D10}" destId="{0418470C-635D-4195-AA3D-AF7BDE328F78}" srcOrd="0" destOrd="0" presId="urn:microsoft.com/office/officeart/2018/2/layout/IconVerticalSolidList"/>
    <dgm:cxn modelId="{E12BAFEE-6DD8-4741-835C-3EA82CD0901A}" type="presParOf" srcId="{0418470C-635D-4195-AA3D-AF7BDE328F78}" destId="{36E6B321-A615-49A1-A9F8-EAFD4407BC32}" srcOrd="0" destOrd="0" presId="urn:microsoft.com/office/officeart/2018/2/layout/IconVerticalSolidList"/>
    <dgm:cxn modelId="{EAA79D3B-A2C6-4956-8304-78A7C679700B}" type="presParOf" srcId="{0418470C-635D-4195-AA3D-AF7BDE328F78}" destId="{E369D14F-147C-48CD-BB81-1E1F134FC528}" srcOrd="1" destOrd="0" presId="urn:microsoft.com/office/officeart/2018/2/layout/IconVerticalSolidList"/>
    <dgm:cxn modelId="{D9D4220B-EA50-4E0E-9851-E43A3C8A4945}" type="presParOf" srcId="{0418470C-635D-4195-AA3D-AF7BDE328F78}" destId="{4FE15790-ACA8-49A7-AA88-703D157F3A0D}" srcOrd="2" destOrd="0" presId="urn:microsoft.com/office/officeart/2018/2/layout/IconVerticalSolidList"/>
    <dgm:cxn modelId="{9233DB27-591F-4B01-820C-2BEEA750FFA2}" type="presParOf" srcId="{0418470C-635D-4195-AA3D-AF7BDE328F78}" destId="{B4B7A839-0520-4384-85B6-709F28A4D978}" srcOrd="3" destOrd="0" presId="urn:microsoft.com/office/officeart/2018/2/layout/IconVerticalSolidList"/>
    <dgm:cxn modelId="{EBEC2131-4A19-4CEF-994A-69EA2C5C88A5}" type="presParOf" srcId="{F6CF8A53-9C8F-4E68-9268-34F41CBD4D10}" destId="{D461CAE5-D930-4DD6-939D-AB5CE36D4250}" srcOrd="1" destOrd="0" presId="urn:microsoft.com/office/officeart/2018/2/layout/IconVerticalSolidList"/>
    <dgm:cxn modelId="{18E6B49E-D5F5-4604-A465-6D55E70337DC}" type="presParOf" srcId="{F6CF8A53-9C8F-4E68-9268-34F41CBD4D10}" destId="{65D2E9CE-1292-45AC-8E56-D4B3049DD419}" srcOrd="2" destOrd="0" presId="urn:microsoft.com/office/officeart/2018/2/layout/IconVerticalSolidList"/>
    <dgm:cxn modelId="{6465B0BF-A912-41FB-9073-0F398C59F3B7}" type="presParOf" srcId="{65D2E9CE-1292-45AC-8E56-D4B3049DD419}" destId="{D46C6438-F74E-44B7-92C3-17D79372A5F2}" srcOrd="0" destOrd="0" presId="urn:microsoft.com/office/officeart/2018/2/layout/IconVerticalSolidList"/>
    <dgm:cxn modelId="{261E02ED-6657-485C-858A-98E9BDF4171D}" type="presParOf" srcId="{65D2E9CE-1292-45AC-8E56-D4B3049DD419}" destId="{0716BFEC-4E17-42AB-85E0-88EFC9102CE2}" srcOrd="1" destOrd="0" presId="urn:microsoft.com/office/officeart/2018/2/layout/IconVerticalSolidList"/>
    <dgm:cxn modelId="{9D6C2215-EA5D-4903-A8EB-CEFBFB65D5BF}" type="presParOf" srcId="{65D2E9CE-1292-45AC-8E56-D4B3049DD419}" destId="{62B69E1E-52C3-4418-9293-A5A29C2E4D30}" srcOrd="2" destOrd="0" presId="urn:microsoft.com/office/officeart/2018/2/layout/IconVerticalSolidList"/>
    <dgm:cxn modelId="{1CF1E72B-A4CC-48CC-A5E4-9F53DD1F6F42}" type="presParOf" srcId="{65D2E9CE-1292-45AC-8E56-D4B3049DD419}" destId="{690AE189-F118-4B18-9EC9-EB04B2C814DA}" srcOrd="3" destOrd="0" presId="urn:microsoft.com/office/officeart/2018/2/layout/IconVerticalSolidList"/>
    <dgm:cxn modelId="{B02A2DCD-D715-4241-AA7D-CD680610DC8E}" type="presParOf" srcId="{F6CF8A53-9C8F-4E68-9268-34F41CBD4D10}" destId="{DBEEC9C3-8F0D-440C-80BA-7C9DEB0B31A7}" srcOrd="3" destOrd="0" presId="urn:microsoft.com/office/officeart/2018/2/layout/IconVerticalSolidList"/>
    <dgm:cxn modelId="{D34FD0EB-2EC5-40CC-9F16-407ECC4B847A}" type="presParOf" srcId="{F6CF8A53-9C8F-4E68-9268-34F41CBD4D10}" destId="{04FED268-70D9-455A-9D49-324F442126CF}" srcOrd="4" destOrd="0" presId="urn:microsoft.com/office/officeart/2018/2/layout/IconVerticalSolidList"/>
    <dgm:cxn modelId="{F5E28722-4CD8-45C0-B8F0-4D7FD599E194}" type="presParOf" srcId="{04FED268-70D9-455A-9D49-324F442126CF}" destId="{ABE58551-3F5E-442E-9C01-1E07F1FFEE1E}" srcOrd="0" destOrd="0" presId="urn:microsoft.com/office/officeart/2018/2/layout/IconVerticalSolidList"/>
    <dgm:cxn modelId="{F02B2DBA-D0C9-4789-8F80-F7F82512018F}" type="presParOf" srcId="{04FED268-70D9-455A-9D49-324F442126CF}" destId="{57BCEA5E-6BDD-4970-A078-99ECB6222F83}" srcOrd="1" destOrd="0" presId="urn:microsoft.com/office/officeart/2018/2/layout/IconVerticalSolidList"/>
    <dgm:cxn modelId="{DC01D7DD-1B3E-4861-9387-82D7C3FE2681}" type="presParOf" srcId="{04FED268-70D9-455A-9D49-324F442126CF}" destId="{A1813444-98F5-4CF2-8FE1-607FD9E24BFC}" srcOrd="2" destOrd="0" presId="urn:microsoft.com/office/officeart/2018/2/layout/IconVerticalSolidList"/>
    <dgm:cxn modelId="{A0FCE64F-E91A-4497-A323-F9969FCDD874}" type="presParOf" srcId="{04FED268-70D9-455A-9D49-324F442126CF}" destId="{D0120C60-E006-49A0-A72A-D839B1BC376B}" srcOrd="3" destOrd="0" presId="urn:microsoft.com/office/officeart/2018/2/layout/IconVerticalSolidList"/>
    <dgm:cxn modelId="{3478FF93-4638-4DA0-A963-2041425B9A68}" type="presParOf" srcId="{F6CF8A53-9C8F-4E68-9268-34F41CBD4D10}" destId="{90F2A9B7-6E7F-4C75-A640-0C3C71F359CC}" srcOrd="5" destOrd="0" presId="urn:microsoft.com/office/officeart/2018/2/layout/IconVerticalSolidList"/>
    <dgm:cxn modelId="{37BE60B0-499E-4140-8B97-3073CCAD5DE2}" type="presParOf" srcId="{F6CF8A53-9C8F-4E68-9268-34F41CBD4D10}" destId="{D483D343-5896-4F18-84A5-D1D5D979316F}" srcOrd="6" destOrd="0" presId="urn:microsoft.com/office/officeart/2018/2/layout/IconVerticalSolidList"/>
    <dgm:cxn modelId="{B43C48CC-55C7-49ED-88CB-AB7F35032868}" type="presParOf" srcId="{D483D343-5896-4F18-84A5-D1D5D979316F}" destId="{BD2719CB-6221-4CCB-AF9E-44E90C06BE24}" srcOrd="0" destOrd="0" presId="urn:microsoft.com/office/officeart/2018/2/layout/IconVerticalSolidList"/>
    <dgm:cxn modelId="{14345E60-F2CC-4D53-BA69-395BA0D49877}" type="presParOf" srcId="{D483D343-5896-4F18-84A5-D1D5D979316F}" destId="{0168542E-17AE-4353-BE1C-908FDB94D566}" srcOrd="1" destOrd="0" presId="urn:microsoft.com/office/officeart/2018/2/layout/IconVerticalSolidList"/>
    <dgm:cxn modelId="{7C9A5D84-FE2A-4A44-8DA3-23133A9A95C8}" type="presParOf" srcId="{D483D343-5896-4F18-84A5-D1D5D979316F}" destId="{9933B686-C022-4399-BE35-948B332AB6B6}" srcOrd="2" destOrd="0" presId="urn:microsoft.com/office/officeart/2018/2/layout/IconVerticalSolidList"/>
    <dgm:cxn modelId="{E5DF47F6-FF2C-4091-9E27-DCD8881C1310}" type="presParOf" srcId="{D483D343-5896-4F18-84A5-D1D5D979316F}" destId="{24C6C43B-7A39-4B2A-A094-E4FE9FD86A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AC7813-C81A-4A9B-995A-3E98DB03F021}"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17BBD5C-0BD4-4C5E-9637-9F82D5F0A0ED}">
      <dgm:prSet/>
      <dgm:spPr/>
      <dgm:t>
        <a:bodyPr/>
        <a:lstStyle/>
        <a:p>
          <a:r>
            <a:rPr lang="en-US"/>
            <a:t>Effective data classification is essential for protecting sensitive information, maintaining regulatory compliance, and mitigating cybersecurity risks. CareAtHome's data classification policy ensures that patient, employee, and financial data are handled securely while aligning with HIPAA regulations.</a:t>
          </a:r>
        </a:p>
      </dgm:t>
    </dgm:pt>
    <dgm:pt modelId="{7EB45419-F9E0-4065-AF8B-3799329BFA4B}" type="parTrans" cxnId="{ABF8CFBB-867A-422B-A5D8-DE10834DA119}">
      <dgm:prSet/>
      <dgm:spPr/>
      <dgm:t>
        <a:bodyPr/>
        <a:lstStyle/>
        <a:p>
          <a:endParaRPr lang="en-US"/>
        </a:p>
      </dgm:t>
    </dgm:pt>
    <dgm:pt modelId="{1C910443-C9EF-4BB2-9DD9-5DFE77FB33F2}" type="sibTrans" cxnId="{ABF8CFBB-867A-422B-A5D8-DE10834DA119}">
      <dgm:prSet/>
      <dgm:spPr/>
      <dgm:t>
        <a:bodyPr/>
        <a:lstStyle/>
        <a:p>
          <a:endParaRPr lang="en-US"/>
        </a:p>
      </dgm:t>
    </dgm:pt>
    <dgm:pt modelId="{8635BAD0-2C12-4FAE-803D-357BFF7C9C47}">
      <dgm:prSet/>
      <dgm:spPr/>
      <dgm:t>
        <a:bodyPr/>
        <a:lstStyle/>
        <a:p>
          <a:r>
            <a:rPr lang="en-US" dirty="0"/>
            <a:t>By adhering to the standards and implementing the security recommendations, </a:t>
          </a:r>
          <a:r>
            <a:rPr lang="en-US" dirty="0" err="1"/>
            <a:t>CareAtHome</a:t>
          </a:r>
          <a:r>
            <a:rPr lang="en-US" dirty="0"/>
            <a:t> enhances its cybersecurity posture, reduces legal liabilities, and fosters trust with patients and employees. </a:t>
          </a:r>
        </a:p>
      </dgm:t>
    </dgm:pt>
    <dgm:pt modelId="{5E7ACB02-9C58-4464-BAF6-1CCAEA257D43}" type="parTrans" cxnId="{4540E941-690B-4927-AB1A-401A08638983}">
      <dgm:prSet/>
      <dgm:spPr/>
      <dgm:t>
        <a:bodyPr/>
        <a:lstStyle/>
        <a:p>
          <a:endParaRPr lang="en-US"/>
        </a:p>
      </dgm:t>
    </dgm:pt>
    <dgm:pt modelId="{E197A215-17B4-4C39-8C7A-612FFE9D0920}" type="sibTrans" cxnId="{4540E941-690B-4927-AB1A-401A08638983}">
      <dgm:prSet/>
      <dgm:spPr/>
      <dgm:t>
        <a:bodyPr/>
        <a:lstStyle/>
        <a:p>
          <a:endParaRPr lang="en-US"/>
        </a:p>
      </dgm:t>
    </dgm:pt>
    <dgm:pt modelId="{FC1EB9A7-49CD-274B-AB11-CD910C7F4D91}" type="pres">
      <dgm:prSet presAssocID="{81AC7813-C81A-4A9B-995A-3E98DB03F021}" presName="hierChild1" presStyleCnt="0">
        <dgm:presLayoutVars>
          <dgm:chPref val="1"/>
          <dgm:dir/>
          <dgm:animOne val="branch"/>
          <dgm:animLvl val="lvl"/>
          <dgm:resizeHandles/>
        </dgm:presLayoutVars>
      </dgm:prSet>
      <dgm:spPr/>
    </dgm:pt>
    <dgm:pt modelId="{029F74FC-59C4-5149-B767-D54755D83A38}" type="pres">
      <dgm:prSet presAssocID="{717BBD5C-0BD4-4C5E-9637-9F82D5F0A0ED}" presName="hierRoot1" presStyleCnt="0"/>
      <dgm:spPr/>
    </dgm:pt>
    <dgm:pt modelId="{E099F8C6-3B24-154E-966C-C7815FF2E91C}" type="pres">
      <dgm:prSet presAssocID="{717BBD5C-0BD4-4C5E-9637-9F82D5F0A0ED}" presName="composite" presStyleCnt="0"/>
      <dgm:spPr/>
    </dgm:pt>
    <dgm:pt modelId="{4C654D67-CDF4-2947-9AAA-81C6BC1E65B5}" type="pres">
      <dgm:prSet presAssocID="{717BBD5C-0BD4-4C5E-9637-9F82D5F0A0ED}" presName="background" presStyleLbl="node0" presStyleIdx="0" presStyleCnt="2"/>
      <dgm:spPr/>
    </dgm:pt>
    <dgm:pt modelId="{540AB773-2B2C-E549-9060-E69F505722D5}" type="pres">
      <dgm:prSet presAssocID="{717BBD5C-0BD4-4C5E-9637-9F82D5F0A0ED}" presName="text" presStyleLbl="fgAcc0" presStyleIdx="0" presStyleCnt="2">
        <dgm:presLayoutVars>
          <dgm:chPref val="3"/>
        </dgm:presLayoutVars>
      </dgm:prSet>
      <dgm:spPr/>
    </dgm:pt>
    <dgm:pt modelId="{69415033-E2E7-B842-95EA-A6FDED358EC6}" type="pres">
      <dgm:prSet presAssocID="{717BBD5C-0BD4-4C5E-9637-9F82D5F0A0ED}" presName="hierChild2" presStyleCnt="0"/>
      <dgm:spPr/>
    </dgm:pt>
    <dgm:pt modelId="{8B1FD298-265E-6946-B127-C7A432261203}" type="pres">
      <dgm:prSet presAssocID="{8635BAD0-2C12-4FAE-803D-357BFF7C9C47}" presName="hierRoot1" presStyleCnt="0"/>
      <dgm:spPr/>
    </dgm:pt>
    <dgm:pt modelId="{151BAC98-7F1B-C148-9D10-74E690E9B572}" type="pres">
      <dgm:prSet presAssocID="{8635BAD0-2C12-4FAE-803D-357BFF7C9C47}" presName="composite" presStyleCnt="0"/>
      <dgm:spPr/>
    </dgm:pt>
    <dgm:pt modelId="{433F9E51-219A-264B-A721-74D16C52FAB6}" type="pres">
      <dgm:prSet presAssocID="{8635BAD0-2C12-4FAE-803D-357BFF7C9C47}" presName="background" presStyleLbl="node0" presStyleIdx="1" presStyleCnt="2"/>
      <dgm:spPr/>
    </dgm:pt>
    <dgm:pt modelId="{2B7C8BF6-C8CB-F442-942B-648BF83FE82B}" type="pres">
      <dgm:prSet presAssocID="{8635BAD0-2C12-4FAE-803D-357BFF7C9C47}" presName="text" presStyleLbl="fgAcc0" presStyleIdx="1" presStyleCnt="2">
        <dgm:presLayoutVars>
          <dgm:chPref val="3"/>
        </dgm:presLayoutVars>
      </dgm:prSet>
      <dgm:spPr/>
    </dgm:pt>
    <dgm:pt modelId="{C86FEC68-8C51-344B-86E3-944D63963B83}" type="pres">
      <dgm:prSet presAssocID="{8635BAD0-2C12-4FAE-803D-357BFF7C9C47}" presName="hierChild2" presStyleCnt="0"/>
      <dgm:spPr/>
    </dgm:pt>
  </dgm:ptLst>
  <dgm:cxnLst>
    <dgm:cxn modelId="{4540E941-690B-4927-AB1A-401A08638983}" srcId="{81AC7813-C81A-4A9B-995A-3E98DB03F021}" destId="{8635BAD0-2C12-4FAE-803D-357BFF7C9C47}" srcOrd="1" destOrd="0" parTransId="{5E7ACB02-9C58-4464-BAF6-1CCAEA257D43}" sibTransId="{E197A215-17B4-4C39-8C7A-612FFE9D0920}"/>
    <dgm:cxn modelId="{B0156E46-0B1F-A44A-B39C-8FBDA59459DC}" type="presOf" srcId="{81AC7813-C81A-4A9B-995A-3E98DB03F021}" destId="{FC1EB9A7-49CD-274B-AB11-CD910C7F4D91}" srcOrd="0" destOrd="0" presId="urn:microsoft.com/office/officeart/2005/8/layout/hierarchy1"/>
    <dgm:cxn modelId="{4F70109E-D278-7F49-B2BC-C2E6352E8B31}" type="presOf" srcId="{8635BAD0-2C12-4FAE-803D-357BFF7C9C47}" destId="{2B7C8BF6-C8CB-F442-942B-648BF83FE82B}" srcOrd="0" destOrd="0" presId="urn:microsoft.com/office/officeart/2005/8/layout/hierarchy1"/>
    <dgm:cxn modelId="{ABF8CFBB-867A-422B-A5D8-DE10834DA119}" srcId="{81AC7813-C81A-4A9B-995A-3E98DB03F021}" destId="{717BBD5C-0BD4-4C5E-9637-9F82D5F0A0ED}" srcOrd="0" destOrd="0" parTransId="{7EB45419-F9E0-4065-AF8B-3799329BFA4B}" sibTransId="{1C910443-C9EF-4BB2-9DD9-5DFE77FB33F2}"/>
    <dgm:cxn modelId="{DCD641F6-AC4E-D940-B402-C3750A1DE821}" type="presOf" srcId="{717BBD5C-0BD4-4C5E-9637-9F82D5F0A0ED}" destId="{540AB773-2B2C-E549-9060-E69F505722D5}" srcOrd="0" destOrd="0" presId="urn:microsoft.com/office/officeart/2005/8/layout/hierarchy1"/>
    <dgm:cxn modelId="{DDFA9083-1D24-2945-82BE-B28E2591F8F8}" type="presParOf" srcId="{FC1EB9A7-49CD-274B-AB11-CD910C7F4D91}" destId="{029F74FC-59C4-5149-B767-D54755D83A38}" srcOrd="0" destOrd="0" presId="urn:microsoft.com/office/officeart/2005/8/layout/hierarchy1"/>
    <dgm:cxn modelId="{D0EB3823-E810-8049-AC75-9F20675D25A3}" type="presParOf" srcId="{029F74FC-59C4-5149-B767-D54755D83A38}" destId="{E099F8C6-3B24-154E-966C-C7815FF2E91C}" srcOrd="0" destOrd="0" presId="urn:microsoft.com/office/officeart/2005/8/layout/hierarchy1"/>
    <dgm:cxn modelId="{463F8834-4E97-9E46-8E1D-70202CBC8A55}" type="presParOf" srcId="{E099F8C6-3B24-154E-966C-C7815FF2E91C}" destId="{4C654D67-CDF4-2947-9AAA-81C6BC1E65B5}" srcOrd="0" destOrd="0" presId="urn:microsoft.com/office/officeart/2005/8/layout/hierarchy1"/>
    <dgm:cxn modelId="{29F23448-D40D-8A43-A71D-F556CB8637FC}" type="presParOf" srcId="{E099F8C6-3B24-154E-966C-C7815FF2E91C}" destId="{540AB773-2B2C-E549-9060-E69F505722D5}" srcOrd="1" destOrd="0" presId="urn:microsoft.com/office/officeart/2005/8/layout/hierarchy1"/>
    <dgm:cxn modelId="{39A8CC0A-4BC9-8044-BF28-FB572325C594}" type="presParOf" srcId="{029F74FC-59C4-5149-B767-D54755D83A38}" destId="{69415033-E2E7-B842-95EA-A6FDED358EC6}" srcOrd="1" destOrd="0" presId="urn:microsoft.com/office/officeart/2005/8/layout/hierarchy1"/>
    <dgm:cxn modelId="{63BC8964-ADFD-B04B-BE37-9107CA659066}" type="presParOf" srcId="{FC1EB9A7-49CD-274B-AB11-CD910C7F4D91}" destId="{8B1FD298-265E-6946-B127-C7A432261203}" srcOrd="1" destOrd="0" presId="urn:microsoft.com/office/officeart/2005/8/layout/hierarchy1"/>
    <dgm:cxn modelId="{6E76DE42-1AB9-0A4D-B397-9DA7F782ADDD}" type="presParOf" srcId="{8B1FD298-265E-6946-B127-C7A432261203}" destId="{151BAC98-7F1B-C148-9D10-74E690E9B572}" srcOrd="0" destOrd="0" presId="urn:microsoft.com/office/officeart/2005/8/layout/hierarchy1"/>
    <dgm:cxn modelId="{A2025BBB-F952-0E4E-9A07-3A9680680642}" type="presParOf" srcId="{151BAC98-7F1B-C148-9D10-74E690E9B572}" destId="{433F9E51-219A-264B-A721-74D16C52FAB6}" srcOrd="0" destOrd="0" presId="urn:microsoft.com/office/officeart/2005/8/layout/hierarchy1"/>
    <dgm:cxn modelId="{FB4EDCD8-7383-AE47-AC26-81C6C648208A}" type="presParOf" srcId="{151BAC98-7F1B-C148-9D10-74E690E9B572}" destId="{2B7C8BF6-C8CB-F442-942B-648BF83FE82B}" srcOrd="1" destOrd="0" presId="urn:microsoft.com/office/officeart/2005/8/layout/hierarchy1"/>
    <dgm:cxn modelId="{A9351D32-F6A8-0D46-81A2-FE0DB27101D4}" type="presParOf" srcId="{8B1FD298-265E-6946-B127-C7A432261203}" destId="{C86FEC68-8C51-344B-86E3-944D63963B8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DDAAA9-947B-9D4F-B765-FC94EA9BC7D6}">
      <dsp:nvSpPr>
        <dsp:cNvPr id="0" name=""/>
        <dsp:cNvSpPr/>
      </dsp:nvSpPr>
      <dsp:spPr>
        <a:xfrm>
          <a:off x="0" y="0"/>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Introduction</a:t>
          </a:r>
        </a:p>
      </dsp:txBody>
      <dsp:txXfrm>
        <a:off x="19904" y="19904"/>
        <a:ext cx="7797788" cy="367937"/>
      </dsp:txXfrm>
    </dsp:sp>
    <dsp:sp modelId="{5790052F-9C1E-3B4B-8809-B20729D64A6D}">
      <dsp:nvSpPr>
        <dsp:cNvPr id="0" name=""/>
        <dsp:cNvSpPr/>
      </dsp:nvSpPr>
      <dsp:spPr>
        <a:xfrm>
          <a:off x="0" y="478015"/>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Company Background</a:t>
          </a:r>
        </a:p>
      </dsp:txBody>
      <dsp:txXfrm>
        <a:off x="19904" y="497919"/>
        <a:ext cx="7797788" cy="367937"/>
      </dsp:txXfrm>
    </dsp:sp>
    <dsp:sp modelId="{8E8B400A-5207-CA46-AB44-9DB92301C364}">
      <dsp:nvSpPr>
        <dsp:cNvPr id="0" name=""/>
        <dsp:cNvSpPr/>
      </dsp:nvSpPr>
      <dsp:spPr>
        <a:xfrm>
          <a:off x="0" y="976547"/>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Purpose of Data Classification Standards</a:t>
          </a:r>
        </a:p>
      </dsp:txBody>
      <dsp:txXfrm>
        <a:off x="19904" y="996451"/>
        <a:ext cx="7797788" cy="367937"/>
      </dsp:txXfrm>
    </dsp:sp>
    <dsp:sp modelId="{19E2794D-F1FF-7848-AE3B-71597C97F148}">
      <dsp:nvSpPr>
        <dsp:cNvPr id="0" name=""/>
        <dsp:cNvSpPr/>
      </dsp:nvSpPr>
      <dsp:spPr>
        <a:xfrm>
          <a:off x="0" y="1445538"/>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u="none" kern="1200" dirty="0"/>
            <a:t>Data Categorization </a:t>
          </a:r>
        </a:p>
      </dsp:txBody>
      <dsp:txXfrm>
        <a:off x="19904" y="1465442"/>
        <a:ext cx="7797788" cy="367937"/>
      </dsp:txXfrm>
    </dsp:sp>
    <dsp:sp modelId="{003639DF-A3B1-C443-940D-BD117499C6C1}">
      <dsp:nvSpPr>
        <dsp:cNvPr id="0" name=""/>
        <dsp:cNvSpPr/>
      </dsp:nvSpPr>
      <dsp:spPr>
        <a:xfrm>
          <a:off x="0" y="1932177"/>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Data Classification Standards</a:t>
          </a:r>
        </a:p>
      </dsp:txBody>
      <dsp:txXfrm>
        <a:off x="19904" y="1952081"/>
        <a:ext cx="7797788" cy="367937"/>
      </dsp:txXfrm>
    </dsp:sp>
    <dsp:sp modelId="{456B42FD-9CD9-A04F-A908-78CA2EDE6F6B}">
      <dsp:nvSpPr>
        <dsp:cNvPr id="0" name=""/>
        <dsp:cNvSpPr/>
      </dsp:nvSpPr>
      <dsp:spPr>
        <a:xfrm>
          <a:off x="0" y="2353552"/>
          <a:ext cx="7837596" cy="897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8844"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Types of Data &amp; Their Classifications – Private Data	</a:t>
          </a:r>
        </a:p>
        <a:p>
          <a:pPr marL="114300" lvl="1" indent="-114300" algn="l" defTabSz="577850">
            <a:lnSpc>
              <a:spcPct val="90000"/>
            </a:lnSpc>
            <a:spcBef>
              <a:spcPct val="0"/>
            </a:spcBef>
            <a:spcAft>
              <a:spcPct val="20000"/>
            </a:spcAft>
            <a:buChar char="•"/>
          </a:pPr>
          <a:r>
            <a:rPr lang="en-US" sz="1300" kern="1200" dirty="0"/>
            <a:t>Types of Data &amp; Their Classifications – Confidential</a:t>
          </a:r>
        </a:p>
        <a:p>
          <a:pPr marL="114300" lvl="1" indent="-114300" algn="l" defTabSz="577850">
            <a:lnSpc>
              <a:spcPct val="90000"/>
            </a:lnSpc>
            <a:spcBef>
              <a:spcPct val="0"/>
            </a:spcBef>
            <a:spcAft>
              <a:spcPct val="20000"/>
            </a:spcAft>
            <a:buChar char="•"/>
          </a:pPr>
          <a:r>
            <a:rPr lang="en-US" sz="1300" kern="1200"/>
            <a:t>Types of Data &amp; Their Classifications – Internal Use Only</a:t>
          </a:r>
        </a:p>
        <a:p>
          <a:pPr marL="114300" lvl="1" indent="-114300" algn="l" defTabSz="577850">
            <a:lnSpc>
              <a:spcPct val="90000"/>
            </a:lnSpc>
            <a:spcBef>
              <a:spcPct val="0"/>
            </a:spcBef>
            <a:spcAft>
              <a:spcPct val="20000"/>
            </a:spcAft>
            <a:buChar char="•"/>
          </a:pPr>
          <a:r>
            <a:rPr lang="en-US" sz="1300" kern="1200"/>
            <a:t>Types of Data &amp; Their Classifications – Public Domain Data</a:t>
          </a:r>
        </a:p>
      </dsp:txBody>
      <dsp:txXfrm>
        <a:off x="0" y="2353552"/>
        <a:ext cx="7837596" cy="897345"/>
      </dsp:txXfrm>
    </dsp:sp>
    <dsp:sp modelId="{0FF7F6A4-927B-514F-A326-19D723D9DB03}">
      <dsp:nvSpPr>
        <dsp:cNvPr id="0" name=""/>
        <dsp:cNvSpPr/>
      </dsp:nvSpPr>
      <dsp:spPr>
        <a:xfrm>
          <a:off x="0" y="3237267"/>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Data Security Recommendation and Justification</a:t>
          </a:r>
        </a:p>
      </dsp:txBody>
      <dsp:txXfrm>
        <a:off x="19904" y="3257171"/>
        <a:ext cx="7797788" cy="367937"/>
      </dsp:txXfrm>
    </dsp:sp>
    <dsp:sp modelId="{88D49C10-DC2C-4640-948F-13B07FC546D1}">
      <dsp:nvSpPr>
        <dsp:cNvPr id="0" name=""/>
        <dsp:cNvSpPr/>
      </dsp:nvSpPr>
      <dsp:spPr>
        <a:xfrm>
          <a:off x="0" y="3707486"/>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Conclusion</a:t>
          </a:r>
        </a:p>
      </dsp:txBody>
      <dsp:txXfrm>
        <a:off x="19904" y="3727390"/>
        <a:ext cx="7797788" cy="367937"/>
      </dsp:txXfrm>
    </dsp:sp>
    <dsp:sp modelId="{96CA3731-9DEB-464C-A49C-50DE5C5EFA52}">
      <dsp:nvSpPr>
        <dsp:cNvPr id="0" name=""/>
        <dsp:cNvSpPr/>
      </dsp:nvSpPr>
      <dsp:spPr>
        <a:xfrm>
          <a:off x="0" y="4256034"/>
          <a:ext cx="7837596" cy="407745"/>
        </a:xfrm>
        <a:prstGeom prst="roundRect">
          <a:avLst/>
        </a:prstGeom>
        <a:solidFill>
          <a:schemeClr val="dk2">
            <a:hueOff val="0"/>
            <a:satOff val="0"/>
            <a:lumOff val="0"/>
            <a:alphaOff val="0"/>
          </a:schemeClr>
        </a:solidFill>
        <a:ln w="2222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References</a:t>
          </a:r>
        </a:p>
      </dsp:txBody>
      <dsp:txXfrm>
        <a:off x="19904" y="4275938"/>
        <a:ext cx="7797788" cy="367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E5634-8FED-465D-B6C0-06376D32F50D}">
      <dsp:nvSpPr>
        <dsp:cNvPr id="0" name=""/>
        <dsp:cNvSpPr/>
      </dsp:nvSpPr>
      <dsp:spPr>
        <a:xfrm>
          <a:off x="0" y="465"/>
          <a:ext cx="11029950" cy="108952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958884-D2CE-4D7E-90EE-D4BE8619C7E8}">
      <dsp:nvSpPr>
        <dsp:cNvPr id="0" name=""/>
        <dsp:cNvSpPr/>
      </dsp:nvSpPr>
      <dsp:spPr>
        <a:xfrm>
          <a:off x="329582" y="245609"/>
          <a:ext cx="599240" cy="5992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496F82-8305-4BFE-8162-9D5718138B06}">
      <dsp:nvSpPr>
        <dsp:cNvPr id="0" name=""/>
        <dsp:cNvSpPr/>
      </dsp:nvSpPr>
      <dsp:spPr>
        <a:xfrm>
          <a:off x="1258405" y="465"/>
          <a:ext cx="9771544" cy="1089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08" tIns="115308" rIns="115308" bIns="115308" numCol="1" spcCol="1270" anchor="ctr" anchorCtr="0">
          <a:noAutofit/>
        </a:bodyPr>
        <a:lstStyle/>
        <a:p>
          <a:pPr marL="0" lvl="0" indent="0" algn="l" defTabSz="844550">
            <a:lnSpc>
              <a:spcPct val="90000"/>
            </a:lnSpc>
            <a:spcBef>
              <a:spcPct val="0"/>
            </a:spcBef>
            <a:spcAft>
              <a:spcPct val="35000"/>
            </a:spcAft>
            <a:buNone/>
          </a:pPr>
          <a:r>
            <a:rPr lang="en-US" sz="1900" kern="1200"/>
            <a:t>Data breaches have been a prevalent topic in cybersecurity communities over the years, and one of the main targets of threat actors has been healthcare facilities due to the large amount of patient data being handled by healthcare organizations. </a:t>
          </a:r>
        </a:p>
      </dsp:txBody>
      <dsp:txXfrm>
        <a:off x="1258405" y="465"/>
        <a:ext cx="9771544" cy="1089528"/>
      </dsp:txXfrm>
    </dsp:sp>
    <dsp:sp modelId="{37DC0B26-8375-43FA-A039-7CE58C0719BC}">
      <dsp:nvSpPr>
        <dsp:cNvPr id="0" name=""/>
        <dsp:cNvSpPr/>
      </dsp:nvSpPr>
      <dsp:spPr>
        <a:xfrm>
          <a:off x="0" y="1362376"/>
          <a:ext cx="11029950" cy="108952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C6181-5005-4EE6-95B9-E9A9DF44E851}">
      <dsp:nvSpPr>
        <dsp:cNvPr id="0" name=""/>
        <dsp:cNvSpPr/>
      </dsp:nvSpPr>
      <dsp:spPr>
        <a:xfrm>
          <a:off x="329582" y="1607520"/>
          <a:ext cx="599240" cy="5992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92D9E40-A437-47F2-A2BB-9B66C6668EF2}">
      <dsp:nvSpPr>
        <dsp:cNvPr id="0" name=""/>
        <dsp:cNvSpPr/>
      </dsp:nvSpPr>
      <dsp:spPr>
        <a:xfrm>
          <a:off x="1258405" y="1362376"/>
          <a:ext cx="9771544" cy="1089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08" tIns="115308" rIns="115308" bIns="115308" numCol="1" spcCol="1270" anchor="ctr" anchorCtr="0">
          <a:noAutofit/>
        </a:bodyPr>
        <a:lstStyle/>
        <a:p>
          <a:pPr marL="0" lvl="0" indent="0" algn="l" defTabSz="844550">
            <a:lnSpc>
              <a:spcPct val="90000"/>
            </a:lnSpc>
            <a:spcBef>
              <a:spcPct val="0"/>
            </a:spcBef>
            <a:spcAft>
              <a:spcPct val="35000"/>
            </a:spcAft>
            <a:buNone/>
          </a:pPr>
          <a:r>
            <a:rPr lang="en-US" sz="1900" kern="1200"/>
            <a:t>Proper data classification is essential for protecting this information and ensuring compliance with regulations like HIPAA. </a:t>
          </a:r>
        </a:p>
      </dsp:txBody>
      <dsp:txXfrm>
        <a:off x="1258405" y="1362376"/>
        <a:ext cx="9771544" cy="1089528"/>
      </dsp:txXfrm>
    </dsp:sp>
    <dsp:sp modelId="{C202CC21-F8A2-4F63-9595-2E698AD02321}">
      <dsp:nvSpPr>
        <dsp:cNvPr id="0" name=""/>
        <dsp:cNvSpPr/>
      </dsp:nvSpPr>
      <dsp:spPr>
        <a:xfrm>
          <a:off x="0" y="2724286"/>
          <a:ext cx="11029950" cy="108952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F36BAA-7C38-4EDE-B506-D57F0C34200F}">
      <dsp:nvSpPr>
        <dsp:cNvPr id="0" name=""/>
        <dsp:cNvSpPr/>
      </dsp:nvSpPr>
      <dsp:spPr>
        <a:xfrm>
          <a:off x="329582" y="2969430"/>
          <a:ext cx="599240" cy="5992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6BD9BEE-4845-45DE-BD7E-C32D1835F850}">
      <dsp:nvSpPr>
        <dsp:cNvPr id="0" name=""/>
        <dsp:cNvSpPr/>
      </dsp:nvSpPr>
      <dsp:spPr>
        <a:xfrm>
          <a:off x="1258405" y="2724286"/>
          <a:ext cx="9771544" cy="10895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08" tIns="115308" rIns="115308" bIns="115308" numCol="1" spcCol="1270" anchor="ctr" anchorCtr="0">
          <a:noAutofit/>
        </a:bodyPr>
        <a:lstStyle/>
        <a:p>
          <a:pPr marL="0" lvl="0" indent="0" algn="l" defTabSz="844550">
            <a:lnSpc>
              <a:spcPct val="90000"/>
            </a:lnSpc>
            <a:spcBef>
              <a:spcPct val="0"/>
            </a:spcBef>
            <a:spcAft>
              <a:spcPct val="35000"/>
            </a:spcAft>
            <a:buNone/>
          </a:pPr>
          <a:r>
            <a:rPr lang="en-US" sz="1900" kern="1200"/>
            <a:t>This presentation outlines the data classification standards at CareAtHome, detailing the different data categories and the security measures for the categories.</a:t>
          </a:r>
        </a:p>
      </dsp:txBody>
      <dsp:txXfrm>
        <a:off x="1258405" y="2724286"/>
        <a:ext cx="9771544" cy="10895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7D9C9E-0405-2948-9E96-618B5CEF2E21}">
      <dsp:nvSpPr>
        <dsp:cNvPr id="0" name=""/>
        <dsp:cNvSpPr/>
      </dsp:nvSpPr>
      <dsp:spPr>
        <a:xfrm>
          <a:off x="16" y="5682"/>
          <a:ext cx="1625018" cy="460800"/>
        </a:xfrm>
        <a:prstGeom prst="rect">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Goal</a:t>
          </a:r>
        </a:p>
      </dsp:txBody>
      <dsp:txXfrm>
        <a:off x="16" y="5682"/>
        <a:ext cx="1625018" cy="460800"/>
      </dsp:txXfrm>
    </dsp:sp>
    <dsp:sp modelId="{34C9941B-9119-7E49-BC62-DD7228C2E9A4}">
      <dsp:nvSpPr>
        <dsp:cNvPr id="0" name=""/>
        <dsp:cNvSpPr/>
      </dsp:nvSpPr>
      <dsp:spPr>
        <a:xfrm>
          <a:off x="16" y="466482"/>
          <a:ext cx="1625018" cy="4216320"/>
        </a:xfrm>
        <a:prstGeom prst="rect">
          <a:avLst/>
        </a:prstGeom>
        <a:solidFill>
          <a:schemeClr val="accent5">
            <a:alpha val="90000"/>
            <a:tint val="40000"/>
            <a:hueOff val="0"/>
            <a:satOff val="0"/>
            <a:lumOff val="0"/>
            <a:alphaOff val="0"/>
          </a:schemeClr>
        </a:solidFill>
        <a:ln w="22225" cap="rnd"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mn-lt"/>
              <a:cs typeface="Arial" panose="020B0604020202020204" pitchFamily="34" charset="0"/>
            </a:rPr>
            <a:t>The Goal of Care At Home is to realize better outcomes for patients as they transition home from the hospital, lower </a:t>
          </a:r>
          <a:r>
            <a:rPr lang="en-US" sz="1600" kern="1200">
              <a:latin typeface="+mn-lt"/>
              <a:cs typeface="Arial" panose="020B0604020202020204" pitchFamily="34" charset="0"/>
            </a:rPr>
            <a:t>healthcare costs, </a:t>
          </a:r>
          <a:r>
            <a:rPr lang="en-US" sz="1600" kern="1200" dirty="0">
              <a:latin typeface="+mn-lt"/>
              <a:cs typeface="Arial" panose="020B0604020202020204" pitchFamily="34" charset="0"/>
            </a:rPr>
            <a:t>and be a model for addressing what truly determines good health.</a:t>
          </a:r>
        </a:p>
      </dsp:txBody>
      <dsp:txXfrm>
        <a:off x="16" y="466482"/>
        <a:ext cx="1625018" cy="4216320"/>
      </dsp:txXfrm>
    </dsp:sp>
    <dsp:sp modelId="{364FBEA2-9F2F-044B-A420-8572AB2A8328}">
      <dsp:nvSpPr>
        <dsp:cNvPr id="0" name=""/>
        <dsp:cNvSpPr/>
      </dsp:nvSpPr>
      <dsp:spPr>
        <a:xfrm>
          <a:off x="1852538" y="5682"/>
          <a:ext cx="1625018" cy="460800"/>
        </a:xfrm>
        <a:prstGeom prst="rect">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a:latin typeface="Arial" panose="020B0604020202020204" pitchFamily="34" charset="0"/>
              <a:cs typeface="Arial" panose="020B0604020202020204" pitchFamily="34" charset="0"/>
            </a:rPr>
            <a:t>Locations</a:t>
          </a:r>
        </a:p>
      </dsp:txBody>
      <dsp:txXfrm>
        <a:off x="1852538" y="5682"/>
        <a:ext cx="1625018" cy="460800"/>
      </dsp:txXfrm>
    </dsp:sp>
    <dsp:sp modelId="{B99AFE15-8876-5A4D-8627-9889EC15FF29}">
      <dsp:nvSpPr>
        <dsp:cNvPr id="0" name=""/>
        <dsp:cNvSpPr/>
      </dsp:nvSpPr>
      <dsp:spPr>
        <a:xfrm>
          <a:off x="1852538" y="466482"/>
          <a:ext cx="1625018" cy="4216320"/>
        </a:xfrm>
        <a:prstGeom prst="rect">
          <a:avLst/>
        </a:prstGeom>
        <a:solidFill>
          <a:schemeClr val="accent5">
            <a:alpha val="90000"/>
            <a:tint val="40000"/>
            <a:hueOff val="0"/>
            <a:satOff val="0"/>
            <a:lumOff val="0"/>
            <a:alphaOff val="0"/>
          </a:schemeClr>
        </a:solidFill>
        <a:ln w="22225" cap="rnd"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mn-lt"/>
              <a:cs typeface="Arial" panose="020B0604020202020204" pitchFamily="34" charset="0"/>
            </a:rPr>
            <a:t>Orange County, California </a:t>
          </a:r>
        </a:p>
        <a:p>
          <a:pPr marL="171450" lvl="1" indent="-171450" algn="l" defTabSz="711200">
            <a:lnSpc>
              <a:spcPct val="90000"/>
            </a:lnSpc>
            <a:spcBef>
              <a:spcPct val="0"/>
            </a:spcBef>
            <a:spcAft>
              <a:spcPct val="15000"/>
            </a:spcAft>
            <a:buChar char="•"/>
          </a:pPr>
          <a:r>
            <a:rPr lang="en-US" sz="1600" kern="1200" dirty="0">
              <a:latin typeface="+mn-lt"/>
              <a:cs typeface="Arial" panose="020B0604020202020204" pitchFamily="34" charset="0"/>
            </a:rPr>
            <a:t>Inland Empire, California.</a:t>
          </a:r>
        </a:p>
      </dsp:txBody>
      <dsp:txXfrm>
        <a:off x="1852538" y="466482"/>
        <a:ext cx="1625018" cy="42163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E6B321-A615-49A1-A9F8-EAFD4407BC32}">
      <dsp:nvSpPr>
        <dsp:cNvPr id="0" name=""/>
        <dsp:cNvSpPr/>
      </dsp:nvSpPr>
      <dsp:spPr>
        <a:xfrm>
          <a:off x="0" y="1583"/>
          <a:ext cx="11029950" cy="80233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69D14F-147C-48CD-BB81-1E1F134FC528}">
      <dsp:nvSpPr>
        <dsp:cNvPr id="0" name=""/>
        <dsp:cNvSpPr/>
      </dsp:nvSpPr>
      <dsp:spPr>
        <a:xfrm>
          <a:off x="242707" y="182109"/>
          <a:ext cx="441286" cy="4412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4B7A839-0520-4384-85B6-709F28A4D978}">
      <dsp:nvSpPr>
        <dsp:cNvPr id="0" name=""/>
        <dsp:cNvSpPr/>
      </dsp:nvSpPr>
      <dsp:spPr>
        <a:xfrm>
          <a:off x="926702" y="1583"/>
          <a:ext cx="10103247" cy="80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4" tIns="84914" rIns="84914" bIns="84914" numCol="1" spcCol="1270" anchor="ctr" anchorCtr="0">
          <a:noAutofit/>
        </a:bodyPr>
        <a:lstStyle/>
        <a:p>
          <a:pPr marL="0" lvl="0" indent="0" algn="l" defTabSz="844550">
            <a:lnSpc>
              <a:spcPct val="90000"/>
            </a:lnSpc>
            <a:spcBef>
              <a:spcPct val="0"/>
            </a:spcBef>
            <a:spcAft>
              <a:spcPct val="35000"/>
            </a:spcAft>
            <a:buNone/>
          </a:pPr>
          <a:r>
            <a:rPr lang="en-US" sz="1900" b="1" kern="1200"/>
            <a:t>Prevents Unauthorized Access </a:t>
          </a:r>
          <a:r>
            <a:rPr lang="en-US" sz="1900" kern="1200"/>
            <a:t>– Data breaches often stem from improper access control. Classifying data ensures that only authorized personnel handle sensitive information.</a:t>
          </a:r>
        </a:p>
      </dsp:txBody>
      <dsp:txXfrm>
        <a:off x="926702" y="1583"/>
        <a:ext cx="10103247" cy="802339"/>
      </dsp:txXfrm>
    </dsp:sp>
    <dsp:sp modelId="{D46C6438-F74E-44B7-92C3-17D79372A5F2}">
      <dsp:nvSpPr>
        <dsp:cNvPr id="0" name=""/>
        <dsp:cNvSpPr/>
      </dsp:nvSpPr>
      <dsp:spPr>
        <a:xfrm>
          <a:off x="0" y="1004508"/>
          <a:ext cx="11029950" cy="80233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6BFEC-4E17-42AB-85E0-88EFC9102CE2}">
      <dsp:nvSpPr>
        <dsp:cNvPr id="0" name=""/>
        <dsp:cNvSpPr/>
      </dsp:nvSpPr>
      <dsp:spPr>
        <a:xfrm>
          <a:off x="242707" y="1185034"/>
          <a:ext cx="441286" cy="4412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90AE189-F118-4B18-9EC9-EB04B2C814DA}">
      <dsp:nvSpPr>
        <dsp:cNvPr id="0" name=""/>
        <dsp:cNvSpPr/>
      </dsp:nvSpPr>
      <dsp:spPr>
        <a:xfrm>
          <a:off x="926702" y="1004508"/>
          <a:ext cx="10103247" cy="80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4" tIns="84914" rIns="84914" bIns="84914" numCol="1" spcCol="1270" anchor="ctr" anchorCtr="0">
          <a:noAutofit/>
        </a:bodyPr>
        <a:lstStyle/>
        <a:p>
          <a:pPr marL="0" lvl="0" indent="0" algn="l" defTabSz="844550">
            <a:lnSpc>
              <a:spcPct val="90000"/>
            </a:lnSpc>
            <a:spcBef>
              <a:spcPct val="0"/>
            </a:spcBef>
            <a:spcAft>
              <a:spcPct val="35000"/>
            </a:spcAft>
            <a:buNone/>
          </a:pPr>
          <a:r>
            <a:rPr lang="en-US" sz="1900" b="1" kern="1200"/>
            <a:t>Ensures Regulatory Compliance </a:t>
          </a:r>
          <a:r>
            <a:rPr lang="en-US" sz="1900" kern="1200"/>
            <a:t>– (HIPAA) mandates the protection of patient information. Classification helps meet legal and industry standards.</a:t>
          </a:r>
        </a:p>
      </dsp:txBody>
      <dsp:txXfrm>
        <a:off x="926702" y="1004508"/>
        <a:ext cx="10103247" cy="802339"/>
      </dsp:txXfrm>
    </dsp:sp>
    <dsp:sp modelId="{ABE58551-3F5E-442E-9C01-1E07F1FFEE1E}">
      <dsp:nvSpPr>
        <dsp:cNvPr id="0" name=""/>
        <dsp:cNvSpPr/>
      </dsp:nvSpPr>
      <dsp:spPr>
        <a:xfrm>
          <a:off x="0" y="2007432"/>
          <a:ext cx="11029950" cy="80233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BCEA5E-6BDD-4970-A078-99ECB6222F83}">
      <dsp:nvSpPr>
        <dsp:cNvPr id="0" name=""/>
        <dsp:cNvSpPr/>
      </dsp:nvSpPr>
      <dsp:spPr>
        <a:xfrm>
          <a:off x="242707" y="2187959"/>
          <a:ext cx="441286" cy="4412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120C60-E006-49A0-A72A-D839B1BC376B}">
      <dsp:nvSpPr>
        <dsp:cNvPr id="0" name=""/>
        <dsp:cNvSpPr/>
      </dsp:nvSpPr>
      <dsp:spPr>
        <a:xfrm>
          <a:off x="926702" y="2007432"/>
          <a:ext cx="10103247" cy="80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4" tIns="84914" rIns="84914" bIns="84914" numCol="1" spcCol="1270" anchor="ctr" anchorCtr="0">
          <a:noAutofit/>
        </a:bodyPr>
        <a:lstStyle/>
        <a:p>
          <a:pPr marL="0" lvl="0" indent="0" algn="l" defTabSz="844550">
            <a:lnSpc>
              <a:spcPct val="90000"/>
            </a:lnSpc>
            <a:spcBef>
              <a:spcPct val="0"/>
            </a:spcBef>
            <a:spcAft>
              <a:spcPct val="35000"/>
            </a:spcAft>
            <a:buNone/>
          </a:pPr>
          <a:r>
            <a:rPr lang="en-US" sz="1900" b="1" kern="1200"/>
            <a:t>Enhances Security Measures </a:t>
          </a:r>
          <a:r>
            <a:rPr lang="en-US" sz="1900" kern="1200"/>
            <a:t>– Knowing the sensitivity of data allows for tailored security controls (e.g., encryption for financial data).</a:t>
          </a:r>
        </a:p>
      </dsp:txBody>
      <dsp:txXfrm>
        <a:off x="926702" y="2007432"/>
        <a:ext cx="10103247" cy="802339"/>
      </dsp:txXfrm>
    </dsp:sp>
    <dsp:sp modelId="{BD2719CB-6221-4CCB-AF9E-44E90C06BE24}">
      <dsp:nvSpPr>
        <dsp:cNvPr id="0" name=""/>
        <dsp:cNvSpPr/>
      </dsp:nvSpPr>
      <dsp:spPr>
        <a:xfrm>
          <a:off x="0" y="3010357"/>
          <a:ext cx="11029950" cy="80233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68542E-17AE-4353-BE1C-908FDB94D566}">
      <dsp:nvSpPr>
        <dsp:cNvPr id="0" name=""/>
        <dsp:cNvSpPr/>
      </dsp:nvSpPr>
      <dsp:spPr>
        <a:xfrm>
          <a:off x="242707" y="3190884"/>
          <a:ext cx="441286" cy="4412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4C6C43B-7A39-4B2A-A094-E4FE9FD86ADB}">
      <dsp:nvSpPr>
        <dsp:cNvPr id="0" name=""/>
        <dsp:cNvSpPr/>
      </dsp:nvSpPr>
      <dsp:spPr>
        <a:xfrm>
          <a:off x="926702" y="3010357"/>
          <a:ext cx="10103247" cy="802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4" tIns="84914" rIns="84914" bIns="84914" numCol="1" spcCol="1270" anchor="ctr" anchorCtr="0">
          <a:noAutofit/>
        </a:bodyPr>
        <a:lstStyle/>
        <a:p>
          <a:pPr marL="0" lvl="0" indent="0" algn="l" defTabSz="844550">
            <a:lnSpc>
              <a:spcPct val="90000"/>
            </a:lnSpc>
            <a:spcBef>
              <a:spcPct val="0"/>
            </a:spcBef>
            <a:spcAft>
              <a:spcPct val="35000"/>
            </a:spcAft>
            <a:buNone/>
          </a:pPr>
          <a:r>
            <a:rPr lang="en-US" sz="1900" b="1" kern="1200"/>
            <a:t>Improves Operational Efficiency </a:t>
          </a:r>
          <a:r>
            <a:rPr lang="en-US" sz="1900" kern="1200"/>
            <a:t>– Organized data storage prevents mismanagement and accidental exposure.</a:t>
          </a:r>
        </a:p>
      </dsp:txBody>
      <dsp:txXfrm>
        <a:off x="926702" y="3010357"/>
        <a:ext cx="10103247" cy="80233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654D67-CDF4-2947-9AAA-81C6BC1E65B5}">
      <dsp:nvSpPr>
        <dsp:cNvPr id="0" name=""/>
        <dsp:cNvSpPr/>
      </dsp:nvSpPr>
      <dsp:spPr>
        <a:xfrm>
          <a:off x="1346" y="157219"/>
          <a:ext cx="4725967" cy="30009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0AB773-2B2C-E549-9060-E69F505722D5}">
      <dsp:nvSpPr>
        <dsp:cNvPr id="0" name=""/>
        <dsp:cNvSpPr/>
      </dsp:nvSpPr>
      <dsp:spPr>
        <a:xfrm>
          <a:off x="526453" y="656071"/>
          <a:ext cx="4725967" cy="30009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Effective data classification is essential for protecting sensitive information, maintaining regulatory compliance, and mitigating cybersecurity risks. CareAtHome's data classification policy ensures that patient, employee, and financial data are handled securely while aligning with HIPAA regulations.</a:t>
          </a:r>
        </a:p>
      </dsp:txBody>
      <dsp:txXfrm>
        <a:off x="614349" y="743967"/>
        <a:ext cx="4550175" cy="2825197"/>
      </dsp:txXfrm>
    </dsp:sp>
    <dsp:sp modelId="{433F9E51-219A-264B-A721-74D16C52FAB6}">
      <dsp:nvSpPr>
        <dsp:cNvPr id="0" name=""/>
        <dsp:cNvSpPr/>
      </dsp:nvSpPr>
      <dsp:spPr>
        <a:xfrm>
          <a:off x="5777528" y="157219"/>
          <a:ext cx="4725967" cy="30009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7C8BF6-C8CB-F442-942B-648BF83FE82B}">
      <dsp:nvSpPr>
        <dsp:cNvPr id="0" name=""/>
        <dsp:cNvSpPr/>
      </dsp:nvSpPr>
      <dsp:spPr>
        <a:xfrm>
          <a:off x="6302636" y="656071"/>
          <a:ext cx="4725967" cy="30009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By adhering to the standards and implementing the security recommendations, </a:t>
          </a:r>
          <a:r>
            <a:rPr lang="en-US" sz="2000" kern="1200" dirty="0" err="1"/>
            <a:t>CareAtHome</a:t>
          </a:r>
          <a:r>
            <a:rPr lang="en-US" sz="2000" kern="1200" dirty="0"/>
            <a:t> enhances its cybersecurity posture, reduces legal liabilities, and fosters trust with patients and employees. </a:t>
          </a:r>
        </a:p>
      </dsp:txBody>
      <dsp:txXfrm>
        <a:off x="6390532" y="743967"/>
        <a:ext cx="4550175" cy="28251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C6FBB8-2761-4427-B2B7-D5D29376D739}" type="datetimeFigureOut">
              <a:rPr lang="en-US" smtClean="0"/>
              <a:t>11/24/25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8189CA-457C-4716-85FB-64889C17FEA0}" type="slidenum">
              <a:rPr lang="en-US" smtClean="0"/>
              <a:t>‹#›</a:t>
            </a:fld>
            <a:endParaRPr lang="en-US" dirty="0"/>
          </a:p>
        </p:txBody>
      </p:sp>
    </p:spTree>
    <p:extLst>
      <p:ext uri="{BB962C8B-B14F-4D97-AF65-F5344CB8AC3E}">
        <p14:creationId xmlns:p14="http://schemas.microsoft.com/office/powerpoint/2010/main" val="2223563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97406301-C154-41E7-BF68-023366383977}" type="datetime1">
              <a:rPr lang="en-US" smtClean="0"/>
              <a:t>11/24/25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0742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46A72CB-A0EF-4A6A-90B9-97C96A264C71}" type="datetime1">
              <a:rPr lang="en-US" smtClean="0"/>
              <a:t>11/24/25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a:xfrm>
            <a:off x="-471318" y="6423914"/>
            <a:ext cx="1052510" cy="365125"/>
          </a:xfrm>
        </p:spPr>
        <p:txBody>
          <a:bodyPr/>
          <a:lstStyle>
            <a:lvl1pPr>
              <a:defRPr sz="1200">
                <a:latin typeface="Arial" panose="020B0604020202020204" pitchFamily="34" charset="0"/>
                <a:cs typeface="Arial" panose="020B0604020202020204" pitchFamily="34" charset="0"/>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4886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D5D453E1-5992-4773-964A-F7AB414DA5D4}" type="datetime1">
              <a:rPr lang="en-US" smtClean="0"/>
              <a:t>11/24/25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72114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477CE-AC6B-4789-A284-872F33EBDE8A}" type="datetime1">
              <a:rPr lang="en-US" smtClean="0"/>
              <a:t>11/24/25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80090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9E70E5-9633-4B11-8A57-75EF1CAE2F31}" type="datetime1">
              <a:rPr lang="en-US" smtClean="0"/>
              <a:t>11/24/25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26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1C644A-FF57-421F-A216-DA39CC8E0202}" type="datetime1">
              <a:rPr lang="en-US" smtClean="0"/>
              <a:t>11/24/25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829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7BAD8F-0B44-45A2-ACCD-4A3D634C28DE}" type="datetime1">
              <a:rPr lang="en-US" smtClean="0"/>
              <a:t>11/24/25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8316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9015C1B8-13A2-4FDE-B463-D071E972F793}" type="datetime1">
              <a:rPr lang="en-US" smtClean="0"/>
              <a:t>11/24/25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98002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183A0C-C01B-4F31-8CF7-8907A8043C8E}" type="datetime1">
              <a:rPr lang="en-US" smtClean="0"/>
              <a:t>11/24/25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563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2B618-2BC0-4A53-9CFD-65F04B4D24AD}" type="datetime1">
              <a:rPr lang="en-US" smtClean="0"/>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6433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960D643B-C7D9-4C0C-AA33-3DC8B0AAABA1}" type="datetime1">
              <a:rPr lang="en-US" smtClean="0"/>
              <a:t>11/24/25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79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E3D67316-7E1F-4765-9A44-35CAD46281FE}" type="datetime1">
              <a:rPr lang="en-US" smtClean="0"/>
              <a:t>11/24/25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85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581192" y="6423914"/>
            <a:ext cx="1052510"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0297488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794" r:id="rId6"/>
    <p:sldLayoutId id="2147483790" r:id="rId7"/>
    <p:sldLayoutId id="2147483791" r:id="rId8"/>
    <p:sldLayoutId id="2147483792" r:id="rId9"/>
    <p:sldLayoutId id="2147483793" r:id="rId10"/>
    <p:sldLayoutId id="2147483795" r:id="rId11"/>
  </p:sldLayoutIdLst>
  <p:hf hdr="0" ftr="0" dt="0"/>
  <p:txStyles>
    <p:title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eachonline.ca/webinar/how-keep-zoom-classes-secure-and-private-0"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hyperlink" Target="https://careathomellc.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9" name="Rectangle 68">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useBgFill="1">
        <p:nvSpPr>
          <p:cNvPr id="71" name="Rectangle 70">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B3698A1-C723-A7CE-A25D-075C3B40B939}"/>
              </a:ext>
            </a:extLst>
          </p:cNvPr>
          <p:cNvSpPr>
            <a:spLocks noGrp="1"/>
          </p:cNvSpPr>
          <p:nvPr>
            <p:ph type="ctrTitle"/>
          </p:nvPr>
        </p:nvSpPr>
        <p:spPr>
          <a:xfrm>
            <a:off x="581192" y="1009398"/>
            <a:ext cx="6823988" cy="3453419"/>
          </a:xfrm>
        </p:spPr>
        <p:txBody>
          <a:bodyPr anchor="b">
            <a:normAutofit/>
          </a:bodyPr>
          <a:lstStyle/>
          <a:p>
            <a:r>
              <a:rPr lang="en-US" sz="4700" b="1" dirty="0">
                <a:solidFill>
                  <a:schemeClr val="tx1"/>
                </a:solidFill>
                <a:latin typeface="Arial" panose="020B0604020202020204" pitchFamily="34" charset="0"/>
                <a:cs typeface="Arial" panose="020B0604020202020204" pitchFamily="34" charset="0"/>
              </a:rPr>
              <a:t>Care At Home: </a:t>
            </a:r>
            <a:br>
              <a:rPr lang="en-US" sz="4700" b="1" dirty="0">
                <a:solidFill>
                  <a:schemeClr val="tx1"/>
                </a:solidFill>
                <a:latin typeface="Arial" panose="020B0604020202020204" pitchFamily="34" charset="0"/>
                <a:cs typeface="Arial" panose="020B0604020202020204" pitchFamily="34" charset="0"/>
              </a:rPr>
            </a:br>
            <a:br>
              <a:rPr lang="en-US" sz="4700" b="1" dirty="0">
                <a:solidFill>
                  <a:schemeClr val="tx1"/>
                </a:solidFill>
                <a:latin typeface="Arial" panose="020B0604020202020204" pitchFamily="34" charset="0"/>
                <a:cs typeface="Arial" panose="020B0604020202020204" pitchFamily="34" charset="0"/>
              </a:rPr>
            </a:br>
            <a:r>
              <a:rPr lang="en-US" sz="4700" dirty="0">
                <a:solidFill>
                  <a:schemeClr val="tx1"/>
                </a:solidFill>
                <a:latin typeface="Arial" panose="020B0604020202020204" pitchFamily="34" charset="0"/>
                <a:cs typeface="Arial" panose="020B0604020202020204" pitchFamily="34" charset="0"/>
              </a:rPr>
              <a:t>Data Classification Standards &amp; Risk Methodology</a:t>
            </a:r>
          </a:p>
        </p:txBody>
      </p:sp>
      <p:sp>
        <p:nvSpPr>
          <p:cNvPr id="3" name="Subtitle 2">
            <a:extLst>
              <a:ext uri="{FF2B5EF4-FFF2-40B4-BE49-F238E27FC236}">
                <a16:creationId xmlns:a16="http://schemas.microsoft.com/office/drawing/2014/main" id="{0C619266-B455-E51A-8268-2BAB8D3B53BA}"/>
              </a:ext>
            </a:extLst>
          </p:cNvPr>
          <p:cNvSpPr>
            <a:spLocks noGrp="1"/>
          </p:cNvSpPr>
          <p:nvPr>
            <p:ph type="subTitle" idx="1"/>
          </p:nvPr>
        </p:nvSpPr>
        <p:spPr>
          <a:xfrm>
            <a:off x="581191" y="4572000"/>
            <a:ext cx="6823988" cy="1023580"/>
          </a:xfrm>
        </p:spPr>
        <p:txBody>
          <a:bodyPr anchor="t">
            <a:normAutofit/>
          </a:bodyPr>
          <a:lstStyle/>
          <a:p>
            <a:r>
              <a:rPr lang="en-US" sz="2800" dirty="0">
                <a:solidFill>
                  <a:schemeClr val="tx1">
                    <a:alpha val="60000"/>
                  </a:schemeClr>
                </a:solidFill>
                <a:latin typeface="Arial" panose="020B0604020202020204" pitchFamily="34" charset="0"/>
                <a:cs typeface="Arial" panose="020B0604020202020204" pitchFamily="34" charset="0"/>
              </a:rPr>
              <a:t>By: Mayowa </a:t>
            </a:r>
            <a:r>
              <a:rPr lang="en-US" sz="2800" dirty="0" err="1">
                <a:solidFill>
                  <a:schemeClr val="tx1">
                    <a:alpha val="60000"/>
                  </a:schemeClr>
                </a:solidFill>
                <a:latin typeface="Arial" panose="020B0604020202020204" pitchFamily="34" charset="0"/>
                <a:cs typeface="Arial" panose="020B0604020202020204" pitchFamily="34" charset="0"/>
              </a:rPr>
              <a:t>toyinbo</a:t>
            </a:r>
            <a:r>
              <a:rPr lang="en-US" sz="2800" dirty="0">
                <a:solidFill>
                  <a:schemeClr val="tx1">
                    <a:alpha val="60000"/>
                  </a:schemeClr>
                </a:solidFill>
                <a:latin typeface="Arial" panose="020B0604020202020204" pitchFamily="34" charset="0"/>
                <a:cs typeface="Arial" panose="020B0604020202020204" pitchFamily="34" charset="0"/>
              </a:rPr>
              <a:t> </a:t>
            </a:r>
          </a:p>
        </p:txBody>
      </p:sp>
      <p:sp>
        <p:nvSpPr>
          <p:cNvPr id="73" name="Rectangle 7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19" y="457200"/>
            <a:ext cx="6766560" cy="9143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Picture 6" descr="A blue lock with circuit board and lines&#10;&#10;Description automatically generated with medium confidence">
            <a:extLst>
              <a:ext uri="{FF2B5EF4-FFF2-40B4-BE49-F238E27FC236}">
                <a16:creationId xmlns:a16="http://schemas.microsoft.com/office/drawing/2014/main" id="{054463A4-9A01-8807-83DD-8FD8FF91AD4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782" r="58679"/>
          <a:stretch/>
        </p:blipFill>
        <p:spPr>
          <a:xfrm>
            <a:off x="8140428" y="10"/>
            <a:ext cx="4051572" cy="6857990"/>
          </a:xfrm>
          <a:prstGeom prst="rect">
            <a:avLst/>
          </a:prstGeom>
        </p:spPr>
      </p:pic>
      <p:sp>
        <p:nvSpPr>
          <p:cNvPr id="8" name="TextBox 7">
            <a:extLst>
              <a:ext uri="{FF2B5EF4-FFF2-40B4-BE49-F238E27FC236}">
                <a16:creationId xmlns:a16="http://schemas.microsoft.com/office/drawing/2014/main" id="{C25201AD-2C25-CA4D-7E72-B8BBD5024489}"/>
              </a:ext>
            </a:extLst>
          </p:cNvPr>
          <p:cNvSpPr txBox="1"/>
          <p:nvPr/>
        </p:nvSpPr>
        <p:spPr>
          <a:xfrm>
            <a:off x="9585197" y="6657945"/>
            <a:ext cx="2606803"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teachonline.ca/webinar/how-keep-zoom-classes-secure-and-private-0">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Tree>
    <p:extLst>
      <p:ext uri="{BB962C8B-B14F-4D97-AF65-F5344CB8AC3E}">
        <p14:creationId xmlns:p14="http://schemas.microsoft.com/office/powerpoint/2010/main" val="21030674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1E1D3860-2856-250C-9C24-F079BEDBC129}"/>
              </a:ext>
            </a:extLst>
          </p:cNvPr>
          <p:cNvSpPr>
            <a:spLocks noGrp="1"/>
          </p:cNvSpPr>
          <p:nvPr>
            <p:ph type="title"/>
          </p:nvPr>
        </p:nvSpPr>
        <p:spPr>
          <a:xfrm>
            <a:off x="446202" y="807252"/>
            <a:ext cx="11164608" cy="702155"/>
          </a:xfrm>
        </p:spPr>
        <p:txBody>
          <a:bodyPr>
            <a:normAutofit/>
          </a:bodyPr>
          <a:lstStyle/>
          <a:p>
            <a:r>
              <a:rPr lang="en-US" dirty="0">
                <a:solidFill>
                  <a:schemeClr val="tx1">
                    <a:lumMod val="85000"/>
                    <a:lumOff val="15000"/>
                  </a:schemeClr>
                </a:solidFill>
                <a:latin typeface="Arial" panose="020B0604020202020204" pitchFamily="34" charset="0"/>
                <a:cs typeface="Arial" panose="020B0604020202020204" pitchFamily="34" charset="0"/>
              </a:rPr>
              <a:t>Table of contents</a:t>
            </a:r>
          </a:p>
        </p:txBody>
      </p:sp>
      <p:sp>
        <p:nvSpPr>
          <p:cNvPr id="33" name="Rectangle 32">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 name="Slide Number Placeholder 6">
            <a:extLst>
              <a:ext uri="{FF2B5EF4-FFF2-40B4-BE49-F238E27FC236}">
                <a16:creationId xmlns:a16="http://schemas.microsoft.com/office/drawing/2014/main" id="{0310D14A-62FF-5F53-3DC8-D149E3605EB5}"/>
              </a:ext>
            </a:extLst>
          </p:cNvPr>
          <p:cNvSpPr>
            <a:spLocks noGrp="1"/>
          </p:cNvSpPr>
          <p:nvPr>
            <p:ph type="sldNum" sz="quarter" idx="12"/>
          </p:nvPr>
        </p:nvSpPr>
        <p:spPr>
          <a:xfrm>
            <a:off x="10558300" y="6423914"/>
            <a:ext cx="1052510" cy="365125"/>
          </a:xfrm>
        </p:spPr>
        <p:txBody>
          <a:bodyPr>
            <a:normAutofit/>
          </a:bodyPr>
          <a:lstStyle/>
          <a:p>
            <a:pPr>
              <a:spcAft>
                <a:spcPts val="600"/>
              </a:spcAft>
            </a:pPr>
            <a:fld id="{3A98EE3D-8CD1-4C3F-BD1C-C98C9596463C}" type="slidenum">
              <a:rPr lang="en-US" smtClean="0"/>
              <a:pPr>
                <a:spcAft>
                  <a:spcPts val="600"/>
                </a:spcAft>
              </a:pPr>
              <a:t>2</a:t>
            </a:fld>
            <a:endParaRPr lang="en-US"/>
          </a:p>
        </p:txBody>
      </p:sp>
      <p:graphicFrame>
        <p:nvGraphicFramePr>
          <p:cNvPr id="27" name="Content Placeholder 10">
            <a:extLst>
              <a:ext uri="{FF2B5EF4-FFF2-40B4-BE49-F238E27FC236}">
                <a16:creationId xmlns:a16="http://schemas.microsoft.com/office/drawing/2014/main" id="{A91CBB5C-445E-287B-88A8-3F52C5EE9E15}"/>
              </a:ext>
            </a:extLst>
          </p:cNvPr>
          <p:cNvGraphicFramePr>
            <a:graphicFrameLocks noGrp="1"/>
          </p:cNvGraphicFramePr>
          <p:nvPr>
            <p:ph idx="1"/>
            <p:extLst>
              <p:ext uri="{D42A27DB-BD31-4B8C-83A1-F6EECF244321}">
                <p14:modId xmlns:p14="http://schemas.microsoft.com/office/powerpoint/2010/main" val="604797238"/>
              </p:ext>
            </p:extLst>
          </p:nvPr>
        </p:nvGraphicFramePr>
        <p:xfrm>
          <a:off x="446202" y="1634771"/>
          <a:ext cx="7837596" cy="4663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731106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CD3EC9CC-6DFE-1962-6160-F82AD391F320}"/>
              </a:ext>
            </a:extLst>
          </p:cNvPr>
          <p:cNvSpPr>
            <a:spLocks noGrp="1"/>
          </p:cNvSpPr>
          <p:nvPr>
            <p:ph type="title"/>
          </p:nvPr>
        </p:nvSpPr>
        <p:spPr>
          <a:xfrm>
            <a:off x="581192" y="702156"/>
            <a:ext cx="11029616" cy="1188720"/>
          </a:xfrm>
        </p:spPr>
        <p:txBody>
          <a:bodyPr>
            <a:normAutofit/>
          </a:bodyPr>
          <a:lstStyle/>
          <a:p>
            <a:r>
              <a:rPr lang="en-US">
                <a:solidFill>
                  <a:schemeClr val="tx1">
                    <a:lumMod val="85000"/>
                    <a:lumOff val="15000"/>
                  </a:schemeClr>
                </a:solidFill>
                <a:latin typeface="Arial" panose="020B0604020202020204" pitchFamily="34" charset="0"/>
                <a:cs typeface="Arial" panose="020B0604020202020204" pitchFamily="34" charset="0"/>
              </a:rPr>
              <a:t>Introduction</a:t>
            </a:r>
            <a:endParaRPr lang="en-US">
              <a:solidFill>
                <a:schemeClr val="tx1">
                  <a:lumMod val="85000"/>
                  <a:lumOff val="15000"/>
                </a:schemeClr>
              </a:solidFill>
            </a:endParaRPr>
          </a:p>
        </p:txBody>
      </p:sp>
      <p:sp>
        <p:nvSpPr>
          <p:cNvPr id="12" name="Rectangle 11">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D2E1C0DA-AF7C-925F-9A43-758980AA8EED}"/>
              </a:ext>
            </a:extLst>
          </p:cNvPr>
          <p:cNvSpPr>
            <a:spLocks noGrp="1"/>
          </p:cNvSpPr>
          <p:nvPr>
            <p:ph type="sldNum" sz="quarter" idx="12"/>
          </p:nvPr>
        </p:nvSpPr>
        <p:spPr>
          <a:xfrm>
            <a:off x="10558300" y="6423914"/>
            <a:ext cx="1052510" cy="365125"/>
          </a:xfrm>
        </p:spPr>
        <p:txBody>
          <a:bodyPr>
            <a:normAutofit/>
          </a:bodyPr>
          <a:lstStyle/>
          <a:p>
            <a:pPr>
              <a:spcAft>
                <a:spcPts val="600"/>
              </a:spcAft>
            </a:pPr>
            <a:fld id="{3A98EE3D-8CD1-4C3F-BD1C-C98C9596463C}" type="slidenum">
              <a:rPr lang="en-US" smtClean="0"/>
              <a:pPr>
                <a:spcAft>
                  <a:spcPts val="600"/>
                </a:spcAft>
              </a:pPr>
              <a:t>3</a:t>
            </a:fld>
            <a:endParaRPr lang="en-US"/>
          </a:p>
        </p:txBody>
      </p:sp>
      <p:graphicFrame>
        <p:nvGraphicFramePr>
          <p:cNvPr id="6" name="Content Placeholder 2">
            <a:extLst>
              <a:ext uri="{FF2B5EF4-FFF2-40B4-BE49-F238E27FC236}">
                <a16:creationId xmlns:a16="http://schemas.microsoft.com/office/drawing/2014/main" id="{E61979F3-6613-3323-3DAD-1F513380E5A2}"/>
              </a:ext>
            </a:extLst>
          </p:cNvPr>
          <p:cNvGraphicFramePr>
            <a:graphicFrameLocks noGrp="1"/>
          </p:cNvGraphicFramePr>
          <p:nvPr>
            <p:ph idx="1"/>
            <p:extLst>
              <p:ext uri="{D42A27DB-BD31-4B8C-83A1-F6EECF244321}">
                <p14:modId xmlns:p14="http://schemas.microsoft.com/office/powerpoint/2010/main" val="3245587410"/>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025600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601200"/>
            <a:ext cx="370332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C96B0D8-4B1A-3693-27FF-11C351120704}"/>
              </a:ext>
            </a:extLst>
          </p:cNvPr>
          <p:cNvSpPr>
            <a:spLocks noGrp="1"/>
          </p:cNvSpPr>
          <p:nvPr>
            <p:ph type="title"/>
          </p:nvPr>
        </p:nvSpPr>
        <p:spPr>
          <a:xfrm>
            <a:off x="672280" y="944752"/>
            <a:ext cx="2732102" cy="574559"/>
          </a:xfrm>
        </p:spPr>
        <p:txBody>
          <a:bodyPr>
            <a:normAutofit fontScale="90000"/>
          </a:bodyPr>
          <a:lstStyle/>
          <a:p>
            <a:r>
              <a:rPr lang="en-US" dirty="0">
                <a:solidFill>
                  <a:srgbClr val="FFFFFF"/>
                </a:solidFill>
                <a:latin typeface="Arial" panose="020B0604020202020204" pitchFamily="34" charset="0"/>
                <a:cs typeface="Arial" panose="020B0604020202020204" pitchFamily="34" charset="0"/>
              </a:rPr>
              <a:t>Company Background</a:t>
            </a:r>
          </a:p>
        </p:txBody>
      </p:sp>
      <p:sp>
        <p:nvSpPr>
          <p:cNvPr id="23" name="Rectangle 22">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Rectangle 26">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descr="Person with a stethoscope with arm round person">
            <a:extLst>
              <a:ext uri="{FF2B5EF4-FFF2-40B4-BE49-F238E27FC236}">
                <a16:creationId xmlns:a16="http://schemas.microsoft.com/office/drawing/2014/main" id="{49DAC623-E6C6-293F-11B5-FAB9F96AA1CE}"/>
              </a:ext>
            </a:extLst>
          </p:cNvPr>
          <p:cNvPicPr>
            <a:picLocks noChangeAspect="1"/>
          </p:cNvPicPr>
          <p:nvPr/>
        </p:nvPicPr>
        <p:blipFill>
          <a:blip r:embed="rId2">
            <a:extLst>
              <a:ext uri="{28A0092B-C50C-407E-A947-70E740481C1C}">
                <a14:useLocalDpi xmlns:a14="http://schemas.microsoft.com/office/drawing/2010/main" val="0"/>
              </a:ext>
            </a:extLst>
          </a:blip>
          <a:srcRect l="7368" r="6117"/>
          <a:stretch/>
        </p:blipFill>
        <p:spPr>
          <a:xfrm>
            <a:off x="4241830" y="601200"/>
            <a:ext cx="7503636" cy="5789365"/>
          </a:xfrm>
          <a:prstGeom prst="rect">
            <a:avLst/>
          </a:prstGeom>
        </p:spPr>
      </p:pic>
      <p:sp>
        <p:nvSpPr>
          <p:cNvPr id="7" name="Slide Number Placeholder 6">
            <a:extLst>
              <a:ext uri="{FF2B5EF4-FFF2-40B4-BE49-F238E27FC236}">
                <a16:creationId xmlns:a16="http://schemas.microsoft.com/office/drawing/2014/main" id="{5F12684B-BBB7-0048-19A2-F3E847549135}"/>
              </a:ext>
            </a:extLst>
          </p:cNvPr>
          <p:cNvSpPr>
            <a:spLocks noGrp="1"/>
          </p:cNvSpPr>
          <p:nvPr>
            <p:ph type="sldNum" sz="quarter" idx="12"/>
          </p:nvPr>
        </p:nvSpPr>
        <p:spPr>
          <a:xfrm>
            <a:off x="10558300" y="6423914"/>
            <a:ext cx="1052510" cy="365125"/>
          </a:xfrm>
        </p:spPr>
        <p:txBody>
          <a:bodyPr>
            <a:normAutofit/>
          </a:bodyPr>
          <a:lstStyle/>
          <a:p>
            <a:pPr>
              <a:spcAft>
                <a:spcPts val="600"/>
              </a:spcAft>
            </a:pPr>
            <a:fld id="{3A98EE3D-8CD1-4C3F-BD1C-C98C9596463C}" type="slidenum">
              <a:rPr lang="en-US">
                <a:solidFill>
                  <a:schemeClr val="bg1">
                    <a:lumMod val="75000"/>
                    <a:lumOff val="25000"/>
                  </a:schemeClr>
                </a:solidFill>
              </a:rPr>
              <a:pPr>
                <a:spcAft>
                  <a:spcPts val="600"/>
                </a:spcAft>
              </a:pPr>
              <a:t>4</a:t>
            </a:fld>
            <a:endParaRPr lang="en-US">
              <a:solidFill>
                <a:schemeClr val="bg1">
                  <a:lumMod val="75000"/>
                  <a:lumOff val="25000"/>
                </a:schemeClr>
              </a:solidFill>
            </a:endParaRPr>
          </a:p>
        </p:txBody>
      </p:sp>
      <p:graphicFrame>
        <p:nvGraphicFramePr>
          <p:cNvPr id="14" name="Content Placeholder 2">
            <a:extLst>
              <a:ext uri="{FF2B5EF4-FFF2-40B4-BE49-F238E27FC236}">
                <a16:creationId xmlns:a16="http://schemas.microsoft.com/office/drawing/2014/main" id="{39354E01-79A3-BF86-1CFC-312D3AEFD298}"/>
              </a:ext>
            </a:extLst>
          </p:cNvPr>
          <p:cNvGraphicFramePr>
            <a:graphicFrameLocks noGrp="1"/>
          </p:cNvGraphicFramePr>
          <p:nvPr>
            <p:ph idx="1"/>
            <p:extLst>
              <p:ext uri="{D42A27DB-BD31-4B8C-83A1-F6EECF244321}">
                <p14:modId xmlns:p14="http://schemas.microsoft.com/office/powerpoint/2010/main" val="1961375423"/>
              </p:ext>
            </p:extLst>
          </p:nvPr>
        </p:nvGraphicFramePr>
        <p:xfrm>
          <a:off x="559407" y="1526111"/>
          <a:ext cx="3477574" cy="46884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45D5A45-B526-B216-D32F-94E07D0C17A6}"/>
              </a:ext>
            </a:extLst>
          </p:cNvPr>
          <p:cNvSpPr txBox="1"/>
          <p:nvPr/>
        </p:nvSpPr>
        <p:spPr>
          <a:xfrm>
            <a:off x="8698774" y="6457890"/>
            <a:ext cx="2912036" cy="400110"/>
          </a:xfrm>
          <a:prstGeom prst="rect">
            <a:avLst/>
          </a:prstGeom>
          <a:noFill/>
        </p:spPr>
        <p:txBody>
          <a:bodyPr wrap="square" rtlCol="0">
            <a:spAutoFit/>
          </a:bodyPr>
          <a:lstStyle/>
          <a:p>
            <a:r>
              <a:rPr lang="en-US" sz="2000" dirty="0">
                <a:solidFill>
                  <a:schemeClr val="bg1"/>
                </a:solidFill>
              </a:rPr>
              <a:t>(Care at home, 2024)</a:t>
            </a:r>
          </a:p>
        </p:txBody>
      </p:sp>
    </p:spTree>
    <p:extLst>
      <p:ext uri="{BB962C8B-B14F-4D97-AF65-F5344CB8AC3E}">
        <p14:creationId xmlns:p14="http://schemas.microsoft.com/office/powerpoint/2010/main" val="296543919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C0769C83-18B5-6A41-C8FC-CD5071CC8A71}"/>
              </a:ext>
            </a:extLst>
          </p:cNvPr>
          <p:cNvSpPr>
            <a:spLocks noGrp="1"/>
          </p:cNvSpPr>
          <p:nvPr>
            <p:ph type="title"/>
          </p:nvPr>
        </p:nvSpPr>
        <p:spPr>
          <a:xfrm>
            <a:off x="581192" y="702156"/>
            <a:ext cx="11029616" cy="1188720"/>
          </a:xfrm>
        </p:spPr>
        <p:txBody>
          <a:bodyPr>
            <a:normAutofit/>
          </a:bodyPr>
          <a:lstStyle/>
          <a:p>
            <a:r>
              <a:rPr lang="en-US">
                <a:solidFill>
                  <a:schemeClr val="tx1">
                    <a:lumMod val="85000"/>
                    <a:lumOff val="15000"/>
                  </a:schemeClr>
                </a:solidFill>
                <a:latin typeface="Arial" panose="020B0604020202020204" pitchFamily="34" charset="0"/>
                <a:cs typeface="Arial" panose="020B0604020202020204" pitchFamily="34" charset="0"/>
              </a:rPr>
              <a:t>Purpose of Data classification standards</a:t>
            </a:r>
          </a:p>
        </p:txBody>
      </p:sp>
      <p:sp>
        <p:nvSpPr>
          <p:cNvPr id="16" name="Rectangle 15">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Slide Number Placeholder 7">
            <a:extLst>
              <a:ext uri="{FF2B5EF4-FFF2-40B4-BE49-F238E27FC236}">
                <a16:creationId xmlns:a16="http://schemas.microsoft.com/office/drawing/2014/main" id="{72853FB0-B8C7-FEA2-8AB0-0A43AFF25B7E}"/>
              </a:ext>
            </a:extLst>
          </p:cNvPr>
          <p:cNvSpPr>
            <a:spLocks noGrp="1"/>
          </p:cNvSpPr>
          <p:nvPr>
            <p:ph type="sldNum" sz="quarter" idx="12"/>
          </p:nvPr>
        </p:nvSpPr>
        <p:spPr>
          <a:xfrm>
            <a:off x="10558300" y="6423914"/>
            <a:ext cx="1052510" cy="365125"/>
          </a:xfrm>
        </p:spPr>
        <p:txBody>
          <a:bodyPr>
            <a:normAutofit/>
          </a:bodyPr>
          <a:lstStyle/>
          <a:p>
            <a:pPr>
              <a:spcAft>
                <a:spcPts val="600"/>
              </a:spcAft>
            </a:pPr>
            <a:fld id="{3A98EE3D-8CD1-4C3F-BD1C-C98C9596463C}" type="slidenum">
              <a:rPr lang="en-US" smtClean="0"/>
              <a:pPr>
                <a:spcAft>
                  <a:spcPts val="600"/>
                </a:spcAft>
              </a:pPr>
              <a:t>5</a:t>
            </a:fld>
            <a:endParaRPr lang="en-US"/>
          </a:p>
        </p:txBody>
      </p:sp>
      <p:graphicFrame>
        <p:nvGraphicFramePr>
          <p:cNvPr id="10" name="Content Placeholder 4">
            <a:extLst>
              <a:ext uri="{FF2B5EF4-FFF2-40B4-BE49-F238E27FC236}">
                <a16:creationId xmlns:a16="http://schemas.microsoft.com/office/drawing/2014/main" id="{FD29C094-92EF-3B49-D869-F0BB9805F391}"/>
              </a:ext>
            </a:extLst>
          </p:cNvPr>
          <p:cNvGraphicFramePr>
            <a:graphicFrameLocks noGrp="1"/>
          </p:cNvGraphicFramePr>
          <p:nvPr>
            <p:ph idx="1"/>
            <p:extLst>
              <p:ext uri="{D42A27DB-BD31-4B8C-83A1-F6EECF244321}">
                <p14:modId xmlns:p14="http://schemas.microsoft.com/office/powerpoint/2010/main" val="3918489352"/>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327527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C41D50E-E80C-C414-24B7-E64FAA848631}"/>
              </a:ext>
            </a:extLst>
          </p:cNvPr>
          <p:cNvSpPr>
            <a:spLocks noGrp="1"/>
          </p:cNvSpPr>
          <p:nvPr>
            <p:ph type="title"/>
          </p:nvPr>
        </p:nvSpPr>
        <p:spPr>
          <a:xfrm>
            <a:off x="601255" y="702155"/>
            <a:ext cx="3409783" cy="1300365"/>
          </a:xfrm>
        </p:spPr>
        <p:txBody>
          <a:bodyPr>
            <a:normAutofit/>
          </a:bodyPr>
          <a:lstStyle/>
          <a:p>
            <a:r>
              <a:rPr lang="en-US">
                <a:solidFill>
                  <a:srgbClr val="FFFFFF"/>
                </a:solidFill>
              </a:rPr>
              <a:t>Data Categorization </a:t>
            </a:r>
          </a:p>
        </p:txBody>
      </p:sp>
      <p:sp>
        <p:nvSpPr>
          <p:cNvPr id="3" name="Content Placeholder 2">
            <a:extLst>
              <a:ext uri="{FF2B5EF4-FFF2-40B4-BE49-F238E27FC236}">
                <a16:creationId xmlns:a16="http://schemas.microsoft.com/office/drawing/2014/main" id="{29542091-208D-790B-60EC-3DCC5024821F}"/>
              </a:ext>
            </a:extLst>
          </p:cNvPr>
          <p:cNvSpPr>
            <a:spLocks noGrp="1"/>
          </p:cNvSpPr>
          <p:nvPr>
            <p:ph idx="1"/>
          </p:nvPr>
        </p:nvSpPr>
        <p:spPr>
          <a:xfrm>
            <a:off x="601255" y="2177142"/>
            <a:ext cx="3409782" cy="3823607"/>
          </a:xfrm>
        </p:spPr>
        <p:txBody>
          <a:bodyPr>
            <a:normAutofit/>
          </a:bodyPr>
          <a:lstStyle/>
          <a:p>
            <a:pPr marL="0" indent="0">
              <a:buNone/>
            </a:pPr>
            <a:r>
              <a:rPr lang="en-US">
                <a:solidFill>
                  <a:srgbClr val="FFFFFF"/>
                </a:solidFill>
              </a:rPr>
              <a:t>The data categories employed in CareAtHome’s system are listed in the slides below. </a:t>
            </a:r>
          </a:p>
          <a:p>
            <a:pPr marL="0" indent="0">
              <a:buNone/>
            </a:pPr>
            <a:endParaRPr lang="en-US">
              <a:solidFill>
                <a:srgbClr val="FFFFFF"/>
              </a:solidFill>
            </a:endParaRPr>
          </a:p>
        </p:txBody>
      </p:sp>
      <p:pic>
        <p:nvPicPr>
          <p:cNvPr id="8" name="Graphic 7" descr="Database">
            <a:extLst>
              <a:ext uri="{FF2B5EF4-FFF2-40B4-BE49-F238E27FC236}">
                <a16:creationId xmlns:a16="http://schemas.microsoft.com/office/drawing/2014/main" id="{9306AF10-CEAD-FFBE-758B-89A0C619D24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3830" y="936141"/>
            <a:ext cx="4968305" cy="4968305"/>
          </a:xfrm>
          <a:prstGeom prst="rect">
            <a:avLst/>
          </a:prstGeom>
        </p:spPr>
      </p:pic>
      <p:sp>
        <p:nvSpPr>
          <p:cNvPr id="4" name="Slide Number Placeholder 3">
            <a:extLst>
              <a:ext uri="{FF2B5EF4-FFF2-40B4-BE49-F238E27FC236}">
                <a16:creationId xmlns:a16="http://schemas.microsoft.com/office/drawing/2014/main" id="{D915A088-29E6-3E57-ADD7-B8976D448318}"/>
              </a:ext>
            </a:extLst>
          </p:cNvPr>
          <p:cNvSpPr>
            <a:spLocks noGrp="1"/>
          </p:cNvSpPr>
          <p:nvPr>
            <p:ph type="sldNum" sz="quarter" idx="12"/>
          </p:nvPr>
        </p:nvSpPr>
        <p:spPr>
          <a:xfrm>
            <a:off x="10558300" y="6400800"/>
            <a:ext cx="1052508" cy="365125"/>
          </a:xfrm>
        </p:spPr>
        <p:txBody>
          <a:bodyPr>
            <a:normAutofit/>
          </a:bodyPr>
          <a:lstStyle/>
          <a:p>
            <a:pPr>
              <a:spcAft>
                <a:spcPts val="600"/>
              </a:spcAft>
            </a:pPr>
            <a:fld id="{3A98EE3D-8CD1-4C3F-BD1C-C98C9596463C}" type="slidenum">
              <a:rPr lang="en-US">
                <a:solidFill>
                  <a:srgbClr val="465359"/>
                </a:solidFill>
              </a:rPr>
              <a:pPr>
                <a:spcAft>
                  <a:spcPts val="600"/>
                </a:spcAft>
              </a:pPr>
              <a:t>6</a:t>
            </a:fld>
            <a:endParaRPr lang="en-US">
              <a:solidFill>
                <a:srgbClr val="465359"/>
              </a:solidFill>
            </a:endParaRPr>
          </a:p>
        </p:txBody>
      </p:sp>
    </p:spTree>
    <p:extLst>
      <p:ext uri="{BB962C8B-B14F-4D97-AF65-F5344CB8AC3E}">
        <p14:creationId xmlns:p14="http://schemas.microsoft.com/office/powerpoint/2010/main" val="2134255647"/>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Pen placed on top of a signature line">
            <a:extLst>
              <a:ext uri="{FF2B5EF4-FFF2-40B4-BE49-F238E27FC236}">
                <a16:creationId xmlns:a16="http://schemas.microsoft.com/office/drawing/2014/main" id="{B24A3ACA-62FA-4D6D-D4C9-8E7E210BDA06}"/>
              </a:ext>
            </a:extLst>
          </p:cNvPr>
          <p:cNvPicPr>
            <a:picLocks noChangeAspect="1"/>
          </p:cNvPicPr>
          <p:nvPr/>
        </p:nvPicPr>
        <p:blipFill>
          <a:blip r:embed="rId2">
            <a:alphaModFix amt="40000"/>
          </a:blip>
          <a:srcRect l="55189" r="5295" b="-1"/>
          <a:stretch/>
        </p:blipFill>
        <p:spPr>
          <a:xfrm>
            <a:off x="20" y="10"/>
            <a:ext cx="4059916" cy="6857990"/>
          </a:xfrm>
          <a:prstGeom prst="rect">
            <a:avLst/>
          </a:prstGeom>
        </p:spPr>
      </p:pic>
      <p:sp>
        <p:nvSpPr>
          <p:cNvPr id="2" name="Title 1">
            <a:extLst>
              <a:ext uri="{FF2B5EF4-FFF2-40B4-BE49-F238E27FC236}">
                <a16:creationId xmlns:a16="http://schemas.microsoft.com/office/drawing/2014/main" id="{8C41D50E-E80C-C414-24B7-E64FAA848631}"/>
              </a:ext>
            </a:extLst>
          </p:cNvPr>
          <p:cNvSpPr>
            <a:spLocks noGrp="1"/>
          </p:cNvSpPr>
          <p:nvPr>
            <p:ph type="title"/>
          </p:nvPr>
        </p:nvSpPr>
        <p:spPr>
          <a:xfrm>
            <a:off x="525164" y="64643"/>
            <a:ext cx="8103829" cy="713123"/>
          </a:xfrm>
        </p:spPr>
        <p:txBody>
          <a:bodyPr vert="horz" lIns="91440" tIns="45720" rIns="91440" bIns="45720" rtlCol="0" anchor="b">
            <a:normAutofit/>
          </a:bodyPr>
          <a:lstStyle/>
          <a:p>
            <a:r>
              <a:rPr lang="en-US" sz="2800" b="0" kern="1200" cap="all" dirty="0">
                <a:solidFill>
                  <a:schemeClr val="tx1"/>
                </a:solidFill>
                <a:latin typeface="+mj-lt"/>
                <a:ea typeface="+mj-ea"/>
                <a:cs typeface="+mj-cs"/>
              </a:rPr>
              <a:t>Data Categorization </a:t>
            </a:r>
          </a:p>
        </p:txBody>
      </p:sp>
      <p:sp>
        <p:nvSpPr>
          <p:cNvPr id="7" name="TextBox 6">
            <a:extLst>
              <a:ext uri="{FF2B5EF4-FFF2-40B4-BE49-F238E27FC236}">
                <a16:creationId xmlns:a16="http://schemas.microsoft.com/office/drawing/2014/main" id="{5AD85273-1AB0-E877-36DA-8227E4A50CDC}"/>
              </a:ext>
            </a:extLst>
          </p:cNvPr>
          <p:cNvSpPr txBox="1"/>
          <p:nvPr/>
        </p:nvSpPr>
        <p:spPr>
          <a:xfrm>
            <a:off x="401169" y="1684426"/>
            <a:ext cx="2163884" cy="3237188"/>
          </a:xfrm>
          <a:prstGeom prst="rect">
            <a:avLst/>
          </a:prstGeom>
        </p:spPr>
        <p:txBody>
          <a:bodyPr vert="horz" lIns="91440" tIns="45720" rIns="91440" bIns="45720" rtlCol="0" anchor="ctr">
            <a:norm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Address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Contact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ID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Social Security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Date of Birth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Gender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Emergency Contact  </a:t>
            </a: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p:txBody>
      </p:sp>
      <p:sp>
        <p:nvSpPr>
          <p:cNvPr id="4" name="Slide Number Placeholder 3">
            <a:extLst>
              <a:ext uri="{FF2B5EF4-FFF2-40B4-BE49-F238E27FC236}">
                <a16:creationId xmlns:a16="http://schemas.microsoft.com/office/drawing/2014/main" id="{D915A088-29E6-3E57-ADD7-B8976D448318}"/>
              </a:ext>
            </a:extLst>
          </p:cNvPr>
          <p:cNvSpPr>
            <a:spLocks noGrp="1"/>
          </p:cNvSpPr>
          <p:nvPr>
            <p:ph type="sldNum" sz="quarter" idx="12"/>
          </p:nvPr>
        </p:nvSpPr>
        <p:spPr>
          <a:xfrm>
            <a:off x="10558300" y="6428232"/>
            <a:ext cx="1052510" cy="365125"/>
          </a:xfrm>
        </p:spPr>
        <p:txBody>
          <a:bodyPr vert="horz" lIns="91440" tIns="45720" rIns="91440" bIns="45720" rtlCol="0" anchor="ctr">
            <a:normAutofit/>
          </a:bodyPr>
          <a:lstStyle/>
          <a:p>
            <a:pPr defTabSz="457200">
              <a:spcAft>
                <a:spcPts val="600"/>
              </a:spcAft>
            </a:pPr>
            <a:fld id="{3A98EE3D-8CD1-4C3F-BD1C-C98C9596463C}" type="slidenum">
              <a:rPr lang="en-US" sz="900">
                <a:solidFill>
                  <a:schemeClr val="tx1"/>
                </a:solidFill>
                <a:latin typeface="+mn-lt"/>
                <a:cs typeface="+mn-cs"/>
              </a:rPr>
              <a:pPr defTabSz="457200">
                <a:spcAft>
                  <a:spcPts val="600"/>
                </a:spcAft>
              </a:pPr>
              <a:t>7</a:t>
            </a:fld>
            <a:endParaRPr lang="en-US" sz="900">
              <a:solidFill>
                <a:schemeClr val="tx1"/>
              </a:solidFill>
              <a:latin typeface="+mn-lt"/>
              <a:cs typeface="+mn-cs"/>
            </a:endParaRPr>
          </a:p>
        </p:txBody>
      </p:sp>
      <p:sp>
        <p:nvSpPr>
          <p:cNvPr id="5" name="TextBox 4">
            <a:extLst>
              <a:ext uri="{FF2B5EF4-FFF2-40B4-BE49-F238E27FC236}">
                <a16:creationId xmlns:a16="http://schemas.microsoft.com/office/drawing/2014/main" id="{E4744D2D-B256-1CA0-126C-724655952077}"/>
              </a:ext>
            </a:extLst>
          </p:cNvPr>
          <p:cNvSpPr txBox="1"/>
          <p:nvPr/>
        </p:nvSpPr>
        <p:spPr>
          <a:xfrm>
            <a:off x="2354846" y="1526483"/>
            <a:ext cx="2322258" cy="3237188"/>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Employees</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Address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Contact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Job description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Social Security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Gender</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Emergency Contact</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Salary</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Date of Birth</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Date Hire</a:t>
            </a:r>
          </a:p>
        </p:txBody>
      </p:sp>
      <p:sp>
        <p:nvSpPr>
          <p:cNvPr id="3" name="TextBox 2">
            <a:extLst>
              <a:ext uri="{FF2B5EF4-FFF2-40B4-BE49-F238E27FC236}">
                <a16:creationId xmlns:a16="http://schemas.microsoft.com/office/drawing/2014/main" id="{18C5A254-20E2-44A4-FAD0-1D64A956308E}"/>
              </a:ext>
            </a:extLst>
          </p:cNvPr>
          <p:cNvSpPr txBox="1"/>
          <p:nvPr/>
        </p:nvSpPr>
        <p:spPr>
          <a:xfrm>
            <a:off x="4359433" y="1420858"/>
            <a:ext cx="2055329" cy="1882162"/>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Department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Department ID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Department Manager  </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p:txBody>
      </p:sp>
      <p:sp>
        <p:nvSpPr>
          <p:cNvPr id="6" name="TextBox 5">
            <a:extLst>
              <a:ext uri="{FF2B5EF4-FFF2-40B4-BE49-F238E27FC236}">
                <a16:creationId xmlns:a16="http://schemas.microsoft.com/office/drawing/2014/main" id="{2BE92B04-EF77-737D-B5A9-DDE3A391388F}"/>
              </a:ext>
            </a:extLst>
          </p:cNvPr>
          <p:cNvSpPr txBox="1"/>
          <p:nvPr/>
        </p:nvSpPr>
        <p:spPr>
          <a:xfrm>
            <a:off x="6630781" y="1298026"/>
            <a:ext cx="2322258" cy="2671591"/>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Payment/Billing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Insurance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Credit/Debit</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Address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Name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Contact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Card verification value (CVV) </a:t>
            </a:r>
          </a:p>
        </p:txBody>
      </p:sp>
      <p:sp>
        <p:nvSpPr>
          <p:cNvPr id="8" name="TextBox 7">
            <a:extLst>
              <a:ext uri="{FF2B5EF4-FFF2-40B4-BE49-F238E27FC236}">
                <a16:creationId xmlns:a16="http://schemas.microsoft.com/office/drawing/2014/main" id="{04A19814-695C-5951-8E0C-C33F48FEAB91}"/>
              </a:ext>
            </a:extLst>
          </p:cNvPr>
          <p:cNvSpPr txBox="1"/>
          <p:nvPr/>
        </p:nvSpPr>
        <p:spPr>
          <a:xfrm>
            <a:off x="9186023" y="1203433"/>
            <a:ext cx="2502279" cy="2671591"/>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Regulations/Compliance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Description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Data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Reporting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Agency/Govt.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Location </a:t>
            </a:r>
          </a:p>
        </p:txBody>
      </p:sp>
    </p:spTree>
    <p:extLst>
      <p:ext uri="{BB962C8B-B14F-4D97-AF65-F5344CB8AC3E}">
        <p14:creationId xmlns:p14="http://schemas.microsoft.com/office/powerpoint/2010/main" val="270380708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Pen placed on top of a signature line">
            <a:extLst>
              <a:ext uri="{FF2B5EF4-FFF2-40B4-BE49-F238E27FC236}">
                <a16:creationId xmlns:a16="http://schemas.microsoft.com/office/drawing/2014/main" id="{B24A3ACA-62FA-4D6D-D4C9-8E7E210BDA06}"/>
              </a:ext>
            </a:extLst>
          </p:cNvPr>
          <p:cNvPicPr>
            <a:picLocks noChangeAspect="1"/>
          </p:cNvPicPr>
          <p:nvPr/>
        </p:nvPicPr>
        <p:blipFill>
          <a:blip r:embed="rId2">
            <a:alphaModFix amt="40000"/>
          </a:blip>
          <a:srcRect l="55189" r="5295" b="-1"/>
          <a:stretch/>
        </p:blipFill>
        <p:spPr>
          <a:xfrm>
            <a:off x="20" y="10"/>
            <a:ext cx="4059916" cy="6857990"/>
          </a:xfrm>
          <a:prstGeom prst="rect">
            <a:avLst/>
          </a:prstGeom>
        </p:spPr>
      </p:pic>
      <p:sp>
        <p:nvSpPr>
          <p:cNvPr id="2" name="Title 1">
            <a:extLst>
              <a:ext uri="{FF2B5EF4-FFF2-40B4-BE49-F238E27FC236}">
                <a16:creationId xmlns:a16="http://schemas.microsoft.com/office/drawing/2014/main" id="{8C41D50E-E80C-C414-24B7-E64FAA848631}"/>
              </a:ext>
            </a:extLst>
          </p:cNvPr>
          <p:cNvSpPr>
            <a:spLocks noGrp="1"/>
          </p:cNvSpPr>
          <p:nvPr>
            <p:ph type="title"/>
          </p:nvPr>
        </p:nvSpPr>
        <p:spPr>
          <a:xfrm>
            <a:off x="525164" y="64643"/>
            <a:ext cx="8103829" cy="713123"/>
          </a:xfrm>
        </p:spPr>
        <p:txBody>
          <a:bodyPr vert="horz" lIns="91440" tIns="45720" rIns="91440" bIns="45720" rtlCol="0" anchor="b">
            <a:normAutofit/>
          </a:bodyPr>
          <a:lstStyle/>
          <a:p>
            <a:r>
              <a:rPr lang="en-US" sz="2800" b="0" kern="1200" cap="all" dirty="0">
                <a:solidFill>
                  <a:schemeClr val="tx1"/>
                </a:solidFill>
                <a:latin typeface="+mj-lt"/>
                <a:ea typeface="+mj-ea"/>
                <a:cs typeface="+mj-cs"/>
              </a:rPr>
              <a:t>Data Categorization </a:t>
            </a:r>
          </a:p>
        </p:txBody>
      </p:sp>
      <p:sp>
        <p:nvSpPr>
          <p:cNvPr id="7" name="TextBox 6">
            <a:extLst>
              <a:ext uri="{FF2B5EF4-FFF2-40B4-BE49-F238E27FC236}">
                <a16:creationId xmlns:a16="http://schemas.microsoft.com/office/drawing/2014/main" id="{5AD85273-1AB0-E877-36DA-8227E4A50CDC}"/>
              </a:ext>
            </a:extLst>
          </p:cNvPr>
          <p:cNvSpPr txBox="1"/>
          <p:nvPr/>
        </p:nvSpPr>
        <p:spPr>
          <a:xfrm>
            <a:off x="20027" y="1626619"/>
            <a:ext cx="1736515" cy="1889091"/>
          </a:xfrm>
          <a:prstGeom prst="rect">
            <a:avLst/>
          </a:prstGeom>
        </p:spPr>
        <p:txBody>
          <a:bodyPr vert="horz" lIns="91440" tIns="45720" rIns="91440" bIns="45720" rtlCol="0" anchor="ctr">
            <a:norm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Services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Service ID</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 Description</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a:p>
            <a:pPr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p:txBody>
      </p:sp>
      <p:sp>
        <p:nvSpPr>
          <p:cNvPr id="4" name="Slide Number Placeholder 3">
            <a:extLst>
              <a:ext uri="{FF2B5EF4-FFF2-40B4-BE49-F238E27FC236}">
                <a16:creationId xmlns:a16="http://schemas.microsoft.com/office/drawing/2014/main" id="{D915A088-29E6-3E57-ADD7-B8976D448318}"/>
              </a:ext>
            </a:extLst>
          </p:cNvPr>
          <p:cNvSpPr>
            <a:spLocks noGrp="1"/>
          </p:cNvSpPr>
          <p:nvPr>
            <p:ph type="sldNum" sz="quarter" idx="12"/>
          </p:nvPr>
        </p:nvSpPr>
        <p:spPr>
          <a:xfrm>
            <a:off x="10558300" y="6428232"/>
            <a:ext cx="1052510" cy="365125"/>
          </a:xfrm>
        </p:spPr>
        <p:txBody>
          <a:bodyPr vert="horz" lIns="91440" tIns="45720" rIns="91440" bIns="45720" rtlCol="0" anchor="ctr">
            <a:normAutofit/>
          </a:bodyPr>
          <a:lstStyle/>
          <a:p>
            <a:pPr defTabSz="457200">
              <a:spcAft>
                <a:spcPts val="600"/>
              </a:spcAft>
            </a:pPr>
            <a:fld id="{3A98EE3D-8CD1-4C3F-BD1C-C98C9596463C}" type="slidenum">
              <a:rPr lang="en-US" sz="900">
                <a:solidFill>
                  <a:schemeClr val="tx1"/>
                </a:solidFill>
                <a:latin typeface="+mn-lt"/>
                <a:cs typeface="+mn-cs"/>
              </a:rPr>
              <a:pPr defTabSz="457200">
                <a:spcAft>
                  <a:spcPts val="600"/>
                </a:spcAft>
              </a:pPr>
              <a:t>8</a:t>
            </a:fld>
            <a:endParaRPr lang="en-US" sz="900">
              <a:solidFill>
                <a:schemeClr val="tx1"/>
              </a:solidFill>
              <a:latin typeface="+mn-lt"/>
              <a:cs typeface="+mn-cs"/>
            </a:endParaRPr>
          </a:p>
        </p:txBody>
      </p:sp>
      <p:sp>
        <p:nvSpPr>
          <p:cNvPr id="5" name="TextBox 4">
            <a:extLst>
              <a:ext uri="{FF2B5EF4-FFF2-40B4-BE49-F238E27FC236}">
                <a16:creationId xmlns:a16="http://schemas.microsoft.com/office/drawing/2014/main" id="{E4744D2D-B256-1CA0-126C-724655952077}"/>
              </a:ext>
            </a:extLst>
          </p:cNvPr>
          <p:cNvSpPr txBox="1"/>
          <p:nvPr/>
        </p:nvSpPr>
        <p:spPr>
          <a:xfrm>
            <a:off x="1517283" y="1463303"/>
            <a:ext cx="2106239" cy="1672818"/>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Appointment/Schedule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Date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ID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Service Provided</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p:txBody>
      </p:sp>
      <p:sp>
        <p:nvSpPr>
          <p:cNvPr id="3" name="TextBox 2">
            <a:extLst>
              <a:ext uri="{FF2B5EF4-FFF2-40B4-BE49-F238E27FC236}">
                <a16:creationId xmlns:a16="http://schemas.microsoft.com/office/drawing/2014/main" id="{18C5A254-20E2-44A4-FAD0-1D64A956308E}"/>
              </a:ext>
            </a:extLst>
          </p:cNvPr>
          <p:cNvSpPr txBox="1"/>
          <p:nvPr/>
        </p:nvSpPr>
        <p:spPr>
          <a:xfrm>
            <a:off x="3623522" y="1597166"/>
            <a:ext cx="2055329" cy="2538535"/>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Marketing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URL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Social Media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TV ads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Posters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Flyers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Target area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Billboards </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endParaRPr lang="en-US" sz="1200" dirty="0">
              <a:solidFill>
                <a:schemeClr val="tx1">
                  <a:lumMod val="75000"/>
                  <a:lumOff val="25000"/>
                </a:schemeClr>
              </a:solidFill>
            </a:endParaRPr>
          </a:p>
        </p:txBody>
      </p:sp>
      <p:sp>
        <p:nvSpPr>
          <p:cNvPr id="6" name="TextBox 5">
            <a:extLst>
              <a:ext uri="{FF2B5EF4-FFF2-40B4-BE49-F238E27FC236}">
                <a16:creationId xmlns:a16="http://schemas.microsoft.com/office/drawing/2014/main" id="{2BE92B04-EF77-737D-B5A9-DDE3A391388F}"/>
              </a:ext>
            </a:extLst>
          </p:cNvPr>
          <p:cNvSpPr txBox="1"/>
          <p:nvPr/>
        </p:nvSpPr>
        <p:spPr>
          <a:xfrm>
            <a:off x="5490502" y="1638801"/>
            <a:ext cx="1840557" cy="1405093"/>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Vendors  </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Vendor ID</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Contact </a:t>
            </a:r>
          </a:p>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Industry</a:t>
            </a:r>
          </a:p>
        </p:txBody>
      </p:sp>
      <p:sp>
        <p:nvSpPr>
          <p:cNvPr id="8" name="TextBox 7">
            <a:extLst>
              <a:ext uri="{FF2B5EF4-FFF2-40B4-BE49-F238E27FC236}">
                <a16:creationId xmlns:a16="http://schemas.microsoft.com/office/drawing/2014/main" id="{04A19814-695C-5951-8E0C-C33F48FEAB91}"/>
              </a:ext>
            </a:extLst>
          </p:cNvPr>
          <p:cNvSpPr txBox="1"/>
          <p:nvPr/>
        </p:nvSpPr>
        <p:spPr>
          <a:xfrm>
            <a:off x="6868578" y="1549727"/>
            <a:ext cx="1965453" cy="1879273"/>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Insurance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Patient ID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Insurance ID</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Group</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Provider</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Policy number</a:t>
            </a:r>
          </a:p>
        </p:txBody>
      </p:sp>
      <p:sp>
        <p:nvSpPr>
          <p:cNvPr id="9" name="TextBox 8">
            <a:extLst>
              <a:ext uri="{FF2B5EF4-FFF2-40B4-BE49-F238E27FC236}">
                <a16:creationId xmlns:a16="http://schemas.microsoft.com/office/drawing/2014/main" id="{18090553-F210-EAE8-B09F-5F2E4E7FAA17}"/>
              </a:ext>
            </a:extLst>
          </p:cNvPr>
          <p:cNvSpPr txBox="1"/>
          <p:nvPr/>
        </p:nvSpPr>
        <p:spPr>
          <a:xfrm>
            <a:off x="9052229" y="1617780"/>
            <a:ext cx="2174944" cy="1483917"/>
          </a:xfrm>
          <a:prstGeom prst="rect">
            <a:avLst/>
          </a:prstGeom>
        </p:spPr>
        <p:txBody>
          <a:bodyPr vert="horz" lIns="91440" tIns="45720" rIns="91440" bIns="45720" rtlCol="0" anchor="ctr">
            <a:noAutofit/>
          </a:bodyPr>
          <a:lstStyle/>
          <a:p>
            <a:pPr marL="228600"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Contractor  </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Contractor ID</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Name</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Contact</a:t>
            </a:r>
          </a:p>
          <a:p>
            <a:pPr marL="685800" lvl="1" indent="-228600" defTabSz="457200">
              <a:lnSpc>
                <a:spcPct val="90000"/>
              </a:lnSpc>
              <a:spcBef>
                <a:spcPct val="20000"/>
              </a:spcBef>
              <a:spcAft>
                <a:spcPts val="600"/>
              </a:spcAft>
              <a:buClr>
                <a:schemeClr val="accent1"/>
              </a:buClr>
              <a:buSzPct val="92000"/>
              <a:buFont typeface="Wingdings 2" panose="05020102010507070707" pitchFamily="18" charset="2"/>
              <a:buChar char=""/>
            </a:pPr>
            <a:r>
              <a:rPr lang="en-US" sz="1200" dirty="0">
                <a:solidFill>
                  <a:schemeClr val="tx1">
                    <a:lumMod val="75000"/>
                    <a:lumOff val="25000"/>
                  </a:schemeClr>
                </a:solidFill>
              </a:rPr>
              <a:t>Service Provided</a:t>
            </a:r>
          </a:p>
        </p:txBody>
      </p:sp>
    </p:spTree>
    <p:extLst>
      <p:ext uri="{BB962C8B-B14F-4D97-AF65-F5344CB8AC3E}">
        <p14:creationId xmlns:p14="http://schemas.microsoft.com/office/powerpoint/2010/main" val="255640343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72">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4" name="Rectangle 73">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Rectangle 74">
            <a:extLst>
              <a:ext uri="{FF2B5EF4-FFF2-40B4-BE49-F238E27FC236}">
                <a16:creationId xmlns:a16="http://schemas.microsoft.com/office/drawing/2014/main" id="{F7207B7B-5C57-458C-BE38-95D2CD765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770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5" y="0"/>
            <a:ext cx="4654295"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9BD1502-6EDF-4CAC-C1E3-8A1A1B6B8E2B}"/>
              </a:ext>
            </a:extLst>
          </p:cNvPr>
          <p:cNvSpPr>
            <a:spLocks noGrp="1"/>
          </p:cNvSpPr>
          <p:nvPr>
            <p:ph type="title"/>
          </p:nvPr>
        </p:nvSpPr>
        <p:spPr>
          <a:xfrm>
            <a:off x="8109235" y="863695"/>
            <a:ext cx="3511233" cy="3779995"/>
          </a:xfrm>
        </p:spPr>
        <p:txBody>
          <a:bodyPr vert="horz" lIns="91440" tIns="45720" rIns="91440" bIns="45720" rtlCol="0" anchor="ctr">
            <a:normAutofit/>
          </a:bodyPr>
          <a:lstStyle/>
          <a:p>
            <a:r>
              <a:rPr lang="en-US" sz="3300" dirty="0">
                <a:solidFill>
                  <a:schemeClr val="tx1"/>
                </a:solidFill>
              </a:rPr>
              <a:t>Data Classification Standards</a:t>
            </a:r>
            <a:br>
              <a:rPr lang="en-US" sz="3300" dirty="0">
                <a:solidFill>
                  <a:schemeClr val="tx1"/>
                </a:solidFill>
              </a:rPr>
            </a:br>
            <a:br>
              <a:rPr lang="en-US" sz="3300" dirty="0">
                <a:solidFill>
                  <a:schemeClr val="tx1"/>
                </a:solidFill>
              </a:rPr>
            </a:br>
            <a:endParaRPr lang="en-US" sz="3300" dirty="0">
              <a:solidFill>
                <a:schemeClr val="tx1"/>
              </a:solidFill>
            </a:endParaRPr>
          </a:p>
        </p:txBody>
      </p:sp>
      <p:sp>
        <p:nvSpPr>
          <p:cNvPr id="12" name="TextBox 11">
            <a:extLst>
              <a:ext uri="{FF2B5EF4-FFF2-40B4-BE49-F238E27FC236}">
                <a16:creationId xmlns:a16="http://schemas.microsoft.com/office/drawing/2014/main" id="{74EF8050-1D2F-144A-1105-07C222C273F0}"/>
              </a:ext>
            </a:extLst>
          </p:cNvPr>
          <p:cNvSpPr txBox="1"/>
          <p:nvPr/>
        </p:nvSpPr>
        <p:spPr>
          <a:xfrm>
            <a:off x="8109236" y="4739780"/>
            <a:ext cx="3511233" cy="1147054"/>
          </a:xfrm>
          <a:prstGeom prst="rect">
            <a:avLst/>
          </a:prstGeom>
        </p:spPr>
        <p:txBody>
          <a:bodyPr vert="horz" lIns="91440" tIns="45720" rIns="91440" bIns="45720" rtlCol="0" anchor="t">
            <a:normAutofit/>
          </a:bodyPr>
          <a:lstStyle/>
          <a:p>
            <a:pPr defTabSz="457200">
              <a:lnSpc>
                <a:spcPct val="90000"/>
              </a:lnSpc>
              <a:spcBef>
                <a:spcPct val="20000"/>
              </a:spcBef>
              <a:spcAft>
                <a:spcPts val="600"/>
              </a:spcAft>
              <a:buClr>
                <a:schemeClr val="accent1"/>
              </a:buClr>
              <a:buSzPct val="92000"/>
            </a:pPr>
            <a:r>
              <a:rPr lang="en-US" sz="1700" kern="1200" cap="all" dirty="0">
                <a:solidFill>
                  <a:schemeClr val="accent1"/>
                </a:solidFill>
                <a:latin typeface="+mn-lt"/>
                <a:ea typeface="+mn-ea"/>
                <a:cs typeface="+mn-cs"/>
              </a:rPr>
              <a:t>Table highlighting the different classifications of data categories for </a:t>
            </a:r>
            <a:r>
              <a:rPr lang="en-US" sz="1700" kern="1200" cap="all" dirty="0" err="1">
                <a:solidFill>
                  <a:schemeClr val="accent1"/>
                </a:solidFill>
                <a:latin typeface="+mn-lt"/>
                <a:ea typeface="+mn-ea"/>
                <a:cs typeface="+mn-cs"/>
              </a:rPr>
              <a:t>CareAtHome</a:t>
            </a:r>
            <a:r>
              <a:rPr lang="en-US" sz="1700" kern="1200" cap="all" dirty="0">
                <a:solidFill>
                  <a:schemeClr val="accent1"/>
                </a:solidFill>
                <a:latin typeface="+mn-lt"/>
                <a:ea typeface="+mn-ea"/>
                <a:cs typeface="+mn-cs"/>
              </a:rPr>
              <a:t>. </a:t>
            </a:r>
          </a:p>
        </p:txBody>
      </p:sp>
      <p:sp>
        <p:nvSpPr>
          <p:cNvPr id="62" name="Rectangle 61">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235"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64F39EFD-C4BB-8BBC-F48B-FB8E20687409}"/>
              </a:ext>
            </a:extLst>
          </p:cNvPr>
          <p:cNvSpPr>
            <a:spLocks noGrp="1"/>
          </p:cNvSpPr>
          <p:nvPr>
            <p:ph type="sldNum" sz="quarter" idx="12"/>
          </p:nvPr>
        </p:nvSpPr>
        <p:spPr>
          <a:xfrm>
            <a:off x="10786106" y="6400800"/>
            <a:ext cx="1016440" cy="365125"/>
          </a:xfrm>
        </p:spPr>
        <p:txBody>
          <a:bodyPr vert="horz" lIns="91440" tIns="45720" rIns="91440" bIns="45720" rtlCol="0" anchor="ctr">
            <a:normAutofit/>
          </a:bodyPr>
          <a:lstStyle/>
          <a:p>
            <a:pPr defTabSz="457200">
              <a:spcAft>
                <a:spcPts val="600"/>
              </a:spcAft>
            </a:pPr>
            <a:fld id="{3A98EE3D-8CD1-4C3F-BD1C-C98C9596463C}" type="slidenum">
              <a:rPr lang="en-US" sz="900">
                <a:solidFill>
                  <a:schemeClr val="tx1"/>
                </a:solidFill>
                <a:latin typeface="+mn-lt"/>
                <a:cs typeface="+mn-cs"/>
              </a:rPr>
              <a:pPr defTabSz="457200">
                <a:spcAft>
                  <a:spcPts val="600"/>
                </a:spcAft>
              </a:pPr>
              <a:t>9</a:t>
            </a:fld>
            <a:endParaRPr lang="en-US" sz="900">
              <a:solidFill>
                <a:schemeClr val="tx1"/>
              </a:solidFill>
              <a:latin typeface="+mn-lt"/>
              <a:cs typeface="+mn-cs"/>
            </a:endParaRPr>
          </a:p>
        </p:txBody>
      </p:sp>
      <p:graphicFrame>
        <p:nvGraphicFramePr>
          <p:cNvPr id="3" name="Table 2">
            <a:extLst>
              <a:ext uri="{FF2B5EF4-FFF2-40B4-BE49-F238E27FC236}">
                <a16:creationId xmlns:a16="http://schemas.microsoft.com/office/drawing/2014/main" id="{5D8F72AB-1576-3508-885E-C1D039C6AD80}"/>
              </a:ext>
            </a:extLst>
          </p:cNvPr>
          <p:cNvGraphicFramePr>
            <a:graphicFrameLocks noGrp="1"/>
          </p:cNvGraphicFramePr>
          <p:nvPr>
            <p:extLst>
              <p:ext uri="{D42A27DB-BD31-4B8C-83A1-F6EECF244321}">
                <p14:modId xmlns:p14="http://schemas.microsoft.com/office/powerpoint/2010/main" val="1056190265"/>
              </p:ext>
            </p:extLst>
          </p:nvPr>
        </p:nvGraphicFramePr>
        <p:xfrm>
          <a:off x="52831" y="434088"/>
          <a:ext cx="7417783" cy="6338851"/>
        </p:xfrm>
        <a:graphic>
          <a:graphicData uri="http://schemas.openxmlformats.org/drawingml/2006/table">
            <a:tbl>
              <a:tblPr firstRow="1" bandRow="1">
                <a:tableStyleId>{5C22544A-7EE6-4342-B048-85BDC9FD1C3A}</a:tableStyleId>
              </a:tblPr>
              <a:tblGrid>
                <a:gridCol w="1673417">
                  <a:extLst>
                    <a:ext uri="{9D8B030D-6E8A-4147-A177-3AD203B41FA5}">
                      <a16:colId xmlns:a16="http://schemas.microsoft.com/office/drawing/2014/main" val="2430504949"/>
                    </a:ext>
                  </a:extLst>
                </a:gridCol>
                <a:gridCol w="2351656">
                  <a:extLst>
                    <a:ext uri="{9D8B030D-6E8A-4147-A177-3AD203B41FA5}">
                      <a16:colId xmlns:a16="http://schemas.microsoft.com/office/drawing/2014/main" val="941888726"/>
                    </a:ext>
                  </a:extLst>
                </a:gridCol>
                <a:gridCol w="3392710">
                  <a:extLst>
                    <a:ext uri="{9D8B030D-6E8A-4147-A177-3AD203B41FA5}">
                      <a16:colId xmlns:a16="http://schemas.microsoft.com/office/drawing/2014/main" val="692638785"/>
                    </a:ext>
                  </a:extLst>
                </a:gridCol>
              </a:tblGrid>
              <a:tr h="358746">
                <a:tc>
                  <a:txBody>
                    <a:bodyPr/>
                    <a:lstStyle/>
                    <a:p>
                      <a:pPr algn="l"/>
                      <a:r>
                        <a:rPr lang="en-US" dirty="0"/>
                        <a:t>Classification</a:t>
                      </a:r>
                    </a:p>
                  </a:txBody>
                  <a:tcPr/>
                </a:tc>
                <a:tc>
                  <a:txBody>
                    <a:bodyPr/>
                    <a:lstStyle/>
                    <a:p>
                      <a:pPr algn="l"/>
                      <a:r>
                        <a:rPr lang="en-US" dirty="0"/>
                        <a:t>Description</a:t>
                      </a:r>
                    </a:p>
                  </a:txBody>
                  <a:tcPr/>
                </a:tc>
                <a:tc>
                  <a:txBody>
                    <a:bodyPr/>
                    <a:lstStyle/>
                    <a:p>
                      <a:pPr algn="l"/>
                      <a:r>
                        <a:rPr lang="en-US" dirty="0"/>
                        <a:t>Example</a:t>
                      </a:r>
                    </a:p>
                  </a:txBody>
                  <a:tcPr/>
                </a:tc>
                <a:extLst>
                  <a:ext uri="{0D108BD9-81ED-4DB2-BD59-A6C34878D82A}">
                    <a16:rowId xmlns:a16="http://schemas.microsoft.com/office/drawing/2014/main" val="3521982188"/>
                  </a:ext>
                </a:extLst>
              </a:tr>
              <a:tr h="2391641">
                <a:tc>
                  <a:txBody>
                    <a:bodyPr/>
                    <a:lstStyle/>
                    <a:p>
                      <a:r>
                        <a:rPr lang="en-US" sz="1600" dirty="0"/>
                        <a:t>Public</a:t>
                      </a:r>
                    </a:p>
                  </a:txBody>
                  <a:tcPr/>
                </a:tc>
                <a:tc>
                  <a:txBody>
                    <a:bodyPr/>
                    <a:lstStyle/>
                    <a:p>
                      <a:r>
                        <a:rPr lang="en-US" sz="1600" dirty="0"/>
                        <a:t>Data that can be shared with the public</a:t>
                      </a:r>
                    </a:p>
                  </a:txBody>
                  <a:tcPr/>
                </a:tc>
                <a:tc>
                  <a:txBody>
                    <a:bodyPr/>
                    <a:lstStyle/>
                    <a:p>
                      <a:r>
                        <a:rPr lang="en-US" sz="1600" b="1" dirty="0"/>
                        <a:t>Marketing: </a:t>
                      </a:r>
                      <a:r>
                        <a:rPr lang="en-US" sz="1600" dirty="0"/>
                        <a:t>(All Marketing Data)</a:t>
                      </a:r>
                    </a:p>
                    <a:p>
                      <a:r>
                        <a:rPr lang="en-US" sz="1600" b="1" dirty="0"/>
                        <a:t>Department: </a:t>
                      </a:r>
                      <a:r>
                        <a:rPr lang="en-US" sz="1600" dirty="0"/>
                        <a:t>(Name)</a:t>
                      </a:r>
                    </a:p>
                    <a:p>
                      <a:r>
                        <a:rPr lang="en-US" sz="1600" b="1" dirty="0"/>
                        <a:t>Services: </a:t>
                      </a:r>
                      <a:r>
                        <a:rPr lang="en-US" sz="1600" dirty="0"/>
                        <a:t>(Service ID, Name, Description), </a:t>
                      </a:r>
                    </a:p>
                    <a:p>
                      <a:r>
                        <a:rPr lang="en-US" sz="1600" b="1" dirty="0"/>
                        <a:t>Vendors: </a:t>
                      </a:r>
                      <a:r>
                        <a:rPr lang="en-US" sz="1600" dirty="0"/>
                        <a:t>(Vendor ID, Name, Industry) </a:t>
                      </a:r>
                    </a:p>
                    <a:p>
                      <a:r>
                        <a:rPr lang="en-US" sz="1600" b="1" dirty="0"/>
                        <a:t>Contractor: </a:t>
                      </a:r>
                      <a:r>
                        <a:rPr lang="en-US" sz="1600" dirty="0"/>
                        <a:t>(Contractor ID, Name, Service Provided)</a:t>
                      </a:r>
                    </a:p>
                  </a:txBody>
                  <a:tcPr/>
                </a:tc>
                <a:extLst>
                  <a:ext uri="{0D108BD9-81ED-4DB2-BD59-A6C34878D82A}">
                    <a16:rowId xmlns:a16="http://schemas.microsoft.com/office/drawing/2014/main" val="4220982841"/>
                  </a:ext>
                </a:extLst>
              </a:tr>
              <a:tr h="3581450">
                <a:tc>
                  <a:txBody>
                    <a:bodyPr/>
                    <a:lstStyle/>
                    <a:p>
                      <a:r>
                        <a:rPr lang="en-US" sz="1600" dirty="0"/>
                        <a:t>Internal</a:t>
                      </a:r>
                    </a:p>
                  </a:txBody>
                  <a:tcPr/>
                </a:tc>
                <a:tc>
                  <a:txBody>
                    <a:bodyPr/>
                    <a:lstStyle/>
                    <a:p>
                      <a:r>
                        <a:rPr lang="en-US" sz="1600" dirty="0"/>
                        <a:t>Data or Information that is shared internally within an organization (not for public use/sharing)</a:t>
                      </a:r>
                    </a:p>
                  </a:txBody>
                  <a:tcPr/>
                </a:tc>
                <a:tc>
                  <a:txBody>
                    <a:bodyPr/>
                    <a:lstStyle/>
                    <a:p>
                      <a:r>
                        <a:rPr lang="en-US" sz="1600" b="1" dirty="0"/>
                        <a:t>Patient:</a:t>
                      </a:r>
                      <a:r>
                        <a:rPr lang="en-US" sz="1600" dirty="0"/>
                        <a:t> (Patient ID)</a:t>
                      </a:r>
                    </a:p>
                    <a:p>
                      <a:r>
                        <a:rPr lang="en-US" sz="1600" b="1" dirty="0"/>
                        <a:t>Employees: </a:t>
                      </a:r>
                      <a:r>
                        <a:rPr lang="en-US" sz="1600" dirty="0"/>
                        <a:t>(Name, Address, Job Description, Date Hire) </a:t>
                      </a:r>
                    </a:p>
                    <a:p>
                      <a:r>
                        <a:rPr lang="en-US" sz="1600" b="1" dirty="0"/>
                        <a:t>Department: </a:t>
                      </a:r>
                      <a:r>
                        <a:rPr lang="en-US" sz="1600" dirty="0"/>
                        <a:t>(Department ID, Department Manager) </a:t>
                      </a:r>
                    </a:p>
                    <a:p>
                      <a:r>
                        <a:rPr lang="en-US" sz="1600" b="1" dirty="0"/>
                        <a:t>Appointment/Schedule: </a:t>
                      </a:r>
                      <a:r>
                        <a:rPr lang="en-US" sz="1600" dirty="0"/>
                        <a:t>(Date, Patient ID, Service Provided)</a:t>
                      </a:r>
                    </a:p>
                    <a:p>
                      <a:r>
                        <a:rPr lang="en-US" sz="1600" b="1" dirty="0"/>
                        <a:t>Regulations/Compliance: </a:t>
                      </a:r>
                      <a:r>
                        <a:rPr lang="en-US" sz="1600" dirty="0"/>
                        <a:t>(Name, Description, Reporting, Agency/Govt., Location) </a:t>
                      </a:r>
                    </a:p>
                    <a:p>
                      <a:r>
                        <a:rPr lang="en-US" sz="1600" b="1" dirty="0"/>
                        <a:t>Vendors: </a:t>
                      </a:r>
                      <a:r>
                        <a:rPr lang="en-US" sz="1600" dirty="0"/>
                        <a:t>(Contact) </a:t>
                      </a:r>
                    </a:p>
                    <a:p>
                      <a:r>
                        <a:rPr lang="en-US" sz="1600" b="1" dirty="0"/>
                        <a:t>Insurance: </a:t>
                      </a:r>
                      <a:r>
                        <a:rPr lang="en-US" sz="1600" dirty="0"/>
                        <a:t>(Patient ID)</a:t>
                      </a:r>
                    </a:p>
                    <a:p>
                      <a:r>
                        <a:rPr lang="en-US" sz="1600" b="1" dirty="0"/>
                        <a:t>Contractor: </a:t>
                      </a:r>
                      <a:r>
                        <a:rPr lang="en-US" sz="1600" dirty="0"/>
                        <a:t>(Contact)</a:t>
                      </a:r>
                    </a:p>
                  </a:txBody>
                  <a:tcPr/>
                </a:tc>
                <a:extLst>
                  <a:ext uri="{0D108BD9-81ED-4DB2-BD59-A6C34878D82A}">
                    <a16:rowId xmlns:a16="http://schemas.microsoft.com/office/drawing/2014/main" val="1037178096"/>
                  </a:ext>
                </a:extLst>
              </a:tr>
            </a:tbl>
          </a:graphicData>
        </a:graphic>
      </p:graphicFrame>
    </p:spTree>
    <p:extLst>
      <p:ext uri="{BB962C8B-B14F-4D97-AF65-F5344CB8AC3E}">
        <p14:creationId xmlns:p14="http://schemas.microsoft.com/office/powerpoint/2010/main" val="1980677787"/>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3" name="Rectangle 72">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4" name="Rectangle 73">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Rectangle 74">
            <a:extLst>
              <a:ext uri="{FF2B5EF4-FFF2-40B4-BE49-F238E27FC236}">
                <a16:creationId xmlns:a16="http://schemas.microsoft.com/office/drawing/2014/main" id="{F7207B7B-5C57-458C-BE38-95D2CD765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770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5" y="0"/>
            <a:ext cx="4654295" cy="6858000"/>
          </a:xfrm>
          <a:prstGeom prst="rect">
            <a:avLst/>
          </a:prstGeom>
          <a:solidFill>
            <a:schemeClr val="bg1">
              <a:lumMod val="85000"/>
              <a:lumOff val="1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9BD1502-6EDF-4CAC-C1E3-8A1A1B6B8E2B}"/>
              </a:ext>
            </a:extLst>
          </p:cNvPr>
          <p:cNvSpPr>
            <a:spLocks noGrp="1"/>
          </p:cNvSpPr>
          <p:nvPr>
            <p:ph type="title"/>
          </p:nvPr>
        </p:nvSpPr>
        <p:spPr>
          <a:xfrm>
            <a:off x="8109235" y="863695"/>
            <a:ext cx="3511233" cy="3779995"/>
          </a:xfrm>
        </p:spPr>
        <p:txBody>
          <a:bodyPr vert="horz" lIns="91440" tIns="45720" rIns="91440" bIns="45720" rtlCol="0" anchor="ctr">
            <a:normAutofit/>
          </a:bodyPr>
          <a:lstStyle/>
          <a:p>
            <a:r>
              <a:rPr lang="en-US" sz="3300" dirty="0">
                <a:solidFill>
                  <a:schemeClr val="tx1"/>
                </a:solidFill>
              </a:rPr>
              <a:t>Data Classification Standards</a:t>
            </a:r>
            <a:br>
              <a:rPr lang="en-US" sz="3300" dirty="0">
                <a:solidFill>
                  <a:schemeClr val="tx1"/>
                </a:solidFill>
              </a:rPr>
            </a:br>
            <a:br>
              <a:rPr lang="en-US" sz="3300" dirty="0">
                <a:solidFill>
                  <a:schemeClr val="tx1"/>
                </a:solidFill>
              </a:rPr>
            </a:br>
            <a:endParaRPr lang="en-US" sz="3300" dirty="0">
              <a:solidFill>
                <a:schemeClr val="tx1"/>
              </a:solidFill>
            </a:endParaRPr>
          </a:p>
        </p:txBody>
      </p:sp>
      <p:sp>
        <p:nvSpPr>
          <p:cNvPr id="12" name="TextBox 11">
            <a:extLst>
              <a:ext uri="{FF2B5EF4-FFF2-40B4-BE49-F238E27FC236}">
                <a16:creationId xmlns:a16="http://schemas.microsoft.com/office/drawing/2014/main" id="{74EF8050-1D2F-144A-1105-07C222C273F0}"/>
              </a:ext>
            </a:extLst>
          </p:cNvPr>
          <p:cNvSpPr txBox="1"/>
          <p:nvPr/>
        </p:nvSpPr>
        <p:spPr>
          <a:xfrm>
            <a:off x="8109236" y="4739780"/>
            <a:ext cx="3511233" cy="1147054"/>
          </a:xfrm>
          <a:prstGeom prst="rect">
            <a:avLst/>
          </a:prstGeom>
        </p:spPr>
        <p:txBody>
          <a:bodyPr vert="horz" lIns="91440" tIns="45720" rIns="91440" bIns="45720" rtlCol="0" anchor="t">
            <a:normAutofit/>
          </a:bodyPr>
          <a:lstStyle/>
          <a:p>
            <a:pPr defTabSz="457200">
              <a:lnSpc>
                <a:spcPct val="90000"/>
              </a:lnSpc>
              <a:spcBef>
                <a:spcPct val="20000"/>
              </a:spcBef>
              <a:spcAft>
                <a:spcPts val="600"/>
              </a:spcAft>
              <a:buClr>
                <a:schemeClr val="accent1"/>
              </a:buClr>
              <a:buSzPct val="92000"/>
            </a:pPr>
            <a:r>
              <a:rPr lang="en-US" sz="1700" kern="1200" cap="all" dirty="0">
                <a:solidFill>
                  <a:schemeClr val="accent1"/>
                </a:solidFill>
                <a:latin typeface="+mn-lt"/>
                <a:ea typeface="+mn-ea"/>
                <a:cs typeface="+mn-cs"/>
              </a:rPr>
              <a:t>Table highlighting the different classifications of data categories for </a:t>
            </a:r>
            <a:r>
              <a:rPr lang="en-US" sz="1700" kern="1200" cap="all" dirty="0" err="1">
                <a:solidFill>
                  <a:schemeClr val="accent1"/>
                </a:solidFill>
                <a:latin typeface="+mn-lt"/>
                <a:ea typeface="+mn-ea"/>
                <a:cs typeface="+mn-cs"/>
              </a:rPr>
              <a:t>CareAtHome</a:t>
            </a:r>
            <a:r>
              <a:rPr lang="en-US" sz="1700" kern="1200" cap="all" dirty="0">
                <a:solidFill>
                  <a:schemeClr val="accent1"/>
                </a:solidFill>
                <a:latin typeface="+mn-lt"/>
                <a:ea typeface="+mn-ea"/>
                <a:cs typeface="+mn-cs"/>
              </a:rPr>
              <a:t>. </a:t>
            </a:r>
          </a:p>
        </p:txBody>
      </p:sp>
      <p:sp>
        <p:nvSpPr>
          <p:cNvPr id="62" name="Rectangle 61">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235"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64F39EFD-C4BB-8BBC-F48B-FB8E20687409}"/>
              </a:ext>
            </a:extLst>
          </p:cNvPr>
          <p:cNvSpPr>
            <a:spLocks noGrp="1"/>
          </p:cNvSpPr>
          <p:nvPr>
            <p:ph type="sldNum" sz="quarter" idx="12"/>
          </p:nvPr>
        </p:nvSpPr>
        <p:spPr>
          <a:xfrm>
            <a:off x="10786106" y="6400800"/>
            <a:ext cx="1016440" cy="365125"/>
          </a:xfrm>
        </p:spPr>
        <p:txBody>
          <a:bodyPr vert="horz" lIns="91440" tIns="45720" rIns="91440" bIns="45720" rtlCol="0" anchor="ctr">
            <a:normAutofit/>
          </a:bodyPr>
          <a:lstStyle/>
          <a:p>
            <a:pPr defTabSz="457200">
              <a:spcAft>
                <a:spcPts val="600"/>
              </a:spcAft>
            </a:pPr>
            <a:fld id="{3A98EE3D-8CD1-4C3F-BD1C-C98C9596463C}" type="slidenum">
              <a:rPr lang="en-US" sz="900">
                <a:solidFill>
                  <a:schemeClr val="tx1"/>
                </a:solidFill>
                <a:latin typeface="+mn-lt"/>
                <a:cs typeface="+mn-cs"/>
              </a:rPr>
              <a:pPr defTabSz="457200">
                <a:spcAft>
                  <a:spcPts val="600"/>
                </a:spcAft>
              </a:pPr>
              <a:t>10</a:t>
            </a:fld>
            <a:endParaRPr lang="en-US" sz="900">
              <a:solidFill>
                <a:schemeClr val="tx1"/>
              </a:solidFill>
              <a:latin typeface="+mn-lt"/>
              <a:cs typeface="+mn-cs"/>
            </a:endParaRPr>
          </a:p>
        </p:txBody>
      </p:sp>
      <p:graphicFrame>
        <p:nvGraphicFramePr>
          <p:cNvPr id="3" name="Table 2">
            <a:extLst>
              <a:ext uri="{FF2B5EF4-FFF2-40B4-BE49-F238E27FC236}">
                <a16:creationId xmlns:a16="http://schemas.microsoft.com/office/drawing/2014/main" id="{5D8F72AB-1576-3508-885E-C1D039C6AD80}"/>
              </a:ext>
            </a:extLst>
          </p:cNvPr>
          <p:cNvGraphicFramePr>
            <a:graphicFrameLocks noGrp="1"/>
          </p:cNvGraphicFramePr>
          <p:nvPr>
            <p:extLst>
              <p:ext uri="{D42A27DB-BD31-4B8C-83A1-F6EECF244321}">
                <p14:modId xmlns:p14="http://schemas.microsoft.com/office/powerpoint/2010/main" val="4274426515"/>
              </p:ext>
            </p:extLst>
          </p:nvPr>
        </p:nvGraphicFramePr>
        <p:xfrm>
          <a:off x="52831" y="434088"/>
          <a:ext cx="7427794" cy="6434581"/>
        </p:xfrm>
        <a:graphic>
          <a:graphicData uri="http://schemas.openxmlformats.org/drawingml/2006/table">
            <a:tbl>
              <a:tblPr firstRow="1" bandRow="1">
                <a:tableStyleId>{5C22544A-7EE6-4342-B048-85BDC9FD1C3A}</a:tableStyleId>
              </a:tblPr>
              <a:tblGrid>
                <a:gridCol w="1675675">
                  <a:extLst>
                    <a:ext uri="{9D8B030D-6E8A-4147-A177-3AD203B41FA5}">
                      <a16:colId xmlns:a16="http://schemas.microsoft.com/office/drawing/2014/main" val="2430504949"/>
                    </a:ext>
                  </a:extLst>
                </a:gridCol>
                <a:gridCol w="2354830">
                  <a:extLst>
                    <a:ext uri="{9D8B030D-6E8A-4147-A177-3AD203B41FA5}">
                      <a16:colId xmlns:a16="http://schemas.microsoft.com/office/drawing/2014/main" val="941888726"/>
                    </a:ext>
                  </a:extLst>
                </a:gridCol>
                <a:gridCol w="3397289">
                  <a:extLst>
                    <a:ext uri="{9D8B030D-6E8A-4147-A177-3AD203B41FA5}">
                      <a16:colId xmlns:a16="http://schemas.microsoft.com/office/drawing/2014/main" val="692638785"/>
                    </a:ext>
                  </a:extLst>
                </a:gridCol>
              </a:tblGrid>
              <a:tr h="364412">
                <a:tc>
                  <a:txBody>
                    <a:bodyPr/>
                    <a:lstStyle/>
                    <a:p>
                      <a:pPr algn="l"/>
                      <a:r>
                        <a:rPr lang="en-US" dirty="0"/>
                        <a:t>Classification</a:t>
                      </a:r>
                    </a:p>
                  </a:txBody>
                  <a:tcPr/>
                </a:tc>
                <a:tc>
                  <a:txBody>
                    <a:bodyPr/>
                    <a:lstStyle/>
                    <a:p>
                      <a:pPr algn="l"/>
                      <a:r>
                        <a:rPr lang="en-US" dirty="0"/>
                        <a:t>Description</a:t>
                      </a:r>
                    </a:p>
                  </a:txBody>
                  <a:tcPr/>
                </a:tc>
                <a:tc>
                  <a:txBody>
                    <a:bodyPr/>
                    <a:lstStyle/>
                    <a:p>
                      <a:pPr algn="l"/>
                      <a:r>
                        <a:rPr lang="en-US" dirty="0"/>
                        <a:t>Example</a:t>
                      </a:r>
                    </a:p>
                  </a:txBody>
                  <a:tcPr/>
                </a:tc>
                <a:extLst>
                  <a:ext uri="{0D108BD9-81ED-4DB2-BD59-A6C34878D82A}">
                    <a16:rowId xmlns:a16="http://schemas.microsoft.com/office/drawing/2014/main" val="3521982188"/>
                  </a:ext>
                </a:extLst>
              </a:tr>
              <a:tr h="2520519">
                <a:tc>
                  <a:txBody>
                    <a:bodyPr/>
                    <a:lstStyle/>
                    <a:p>
                      <a:r>
                        <a:rPr lang="en-US" sz="1600" dirty="0"/>
                        <a:t>Classified</a:t>
                      </a:r>
                    </a:p>
                  </a:txBody>
                  <a:tcPr/>
                </a:tc>
                <a:tc>
                  <a:txBody>
                    <a:bodyPr/>
                    <a:lstStyle/>
                    <a:p>
                      <a:r>
                        <a:rPr lang="en-US" sz="1600" dirty="0"/>
                        <a:t>This is data classified as confidential within the company. Data is owned and controlled by the organization. (Sensitive organizational data that causes harm to an organization if breached)</a:t>
                      </a:r>
                    </a:p>
                  </a:txBody>
                  <a:tcPr/>
                </a:tc>
                <a:tc>
                  <a:txBody>
                    <a:bodyPr/>
                    <a:lstStyle/>
                    <a:p>
                      <a:r>
                        <a:rPr lang="en-US" sz="1600" b="1" dirty="0"/>
                        <a:t>Payment/Billing: </a:t>
                      </a:r>
                      <a:r>
                        <a:rPr lang="en-US" sz="1600" b="0" dirty="0"/>
                        <a:t>(Insurance, Credit/Debit) </a:t>
                      </a:r>
                      <a:endParaRPr lang="en-US" sz="1600" b="1" dirty="0"/>
                    </a:p>
                    <a:p>
                      <a:r>
                        <a:rPr lang="en-US" sz="1600" b="1" dirty="0"/>
                        <a:t>Insurance: </a:t>
                      </a:r>
                      <a:r>
                        <a:rPr lang="en-US" sz="1600" b="0" dirty="0"/>
                        <a:t>(Insurance ID, Group, Provider, Policy Number) </a:t>
                      </a:r>
                      <a:endParaRPr lang="en-US" sz="1600" b="1" dirty="0"/>
                    </a:p>
                    <a:p>
                      <a:r>
                        <a:rPr lang="en-US" sz="1600" b="1" dirty="0"/>
                        <a:t>Regulations/Compliance: </a:t>
                      </a:r>
                      <a:r>
                        <a:rPr lang="en-US" sz="1600" b="0" dirty="0"/>
                        <a:t>(Patient Data)</a:t>
                      </a:r>
                    </a:p>
                    <a:p>
                      <a:endParaRPr lang="en-US" sz="1600" b="1" dirty="0"/>
                    </a:p>
                  </a:txBody>
                  <a:tcPr/>
                </a:tc>
                <a:extLst>
                  <a:ext uri="{0D108BD9-81ED-4DB2-BD59-A6C34878D82A}">
                    <a16:rowId xmlns:a16="http://schemas.microsoft.com/office/drawing/2014/main" val="4220982841"/>
                  </a:ext>
                </a:extLst>
              </a:tr>
              <a:tr h="3538981">
                <a:tc>
                  <a:txBody>
                    <a:bodyPr/>
                    <a:lstStyle/>
                    <a:p>
                      <a:r>
                        <a:rPr lang="en-US" sz="1600" dirty="0"/>
                        <a:t>Private</a:t>
                      </a:r>
                    </a:p>
                  </a:txBody>
                  <a:tcPr/>
                </a:tc>
                <a:tc>
                  <a:txBody>
                    <a:bodyPr/>
                    <a:lstStyle/>
                    <a:p>
                      <a:r>
                        <a:rPr lang="en-US" sz="1600" dirty="0"/>
                        <a:t>Sensitive Data about people (personal data) that must be kept private.</a:t>
                      </a:r>
                    </a:p>
                    <a:p>
                      <a:r>
                        <a:rPr lang="en-US" sz="1600" dirty="0"/>
                        <a:t>(Can result in harm for individuals and organization if leaked) </a:t>
                      </a:r>
                    </a:p>
                    <a:p>
                      <a:endParaRPr lang="en-US" sz="1600" dirty="0"/>
                    </a:p>
                  </a:txBody>
                  <a:tcPr/>
                </a:tc>
                <a:tc>
                  <a:txBody>
                    <a:bodyPr/>
                    <a:lstStyle/>
                    <a:p>
                      <a:r>
                        <a:rPr lang="en-US" sz="1600" b="1" dirty="0"/>
                        <a:t>Patient:</a:t>
                      </a:r>
                      <a:r>
                        <a:rPr lang="en-US" sz="1600" b="0" dirty="0"/>
                        <a:t> (Name, Address, Contact, Social Security, Date of Birth, Gender, Emergency Contact) </a:t>
                      </a:r>
                    </a:p>
                    <a:p>
                      <a:r>
                        <a:rPr lang="en-US" sz="1600" b="1" dirty="0"/>
                        <a:t>Employees: </a:t>
                      </a:r>
                      <a:r>
                        <a:rPr lang="en-US" sz="1600" b="0" dirty="0"/>
                        <a:t>(Contact, Social Security, Gender, Emergency Contact, Salary, Date of Birth) </a:t>
                      </a:r>
                    </a:p>
                    <a:p>
                      <a:r>
                        <a:rPr lang="en-US" sz="1600" b="1" dirty="0"/>
                        <a:t>Payment/Billing: </a:t>
                      </a:r>
                      <a:r>
                        <a:rPr lang="en-US" sz="1600" b="0" dirty="0"/>
                        <a:t>(Patient Name, Address, Contact, Card Verification Value (CVV)) </a:t>
                      </a:r>
                    </a:p>
                  </a:txBody>
                  <a:tcPr/>
                </a:tc>
                <a:extLst>
                  <a:ext uri="{0D108BD9-81ED-4DB2-BD59-A6C34878D82A}">
                    <a16:rowId xmlns:a16="http://schemas.microsoft.com/office/drawing/2014/main" val="1037178096"/>
                  </a:ext>
                </a:extLst>
              </a:tr>
            </a:tbl>
          </a:graphicData>
        </a:graphic>
      </p:graphicFrame>
    </p:spTree>
    <p:extLst>
      <p:ext uri="{BB962C8B-B14F-4D97-AF65-F5344CB8AC3E}">
        <p14:creationId xmlns:p14="http://schemas.microsoft.com/office/powerpoint/2010/main" val="871423826"/>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73F22-3C01-C19C-DBBF-FA0540086609}"/>
              </a:ext>
            </a:extLst>
          </p:cNvPr>
          <p:cNvSpPr>
            <a:spLocks noGrp="1"/>
          </p:cNvSpPr>
          <p:nvPr>
            <p:ph type="title"/>
          </p:nvPr>
        </p:nvSpPr>
        <p:spPr>
          <a:xfrm>
            <a:off x="521822" y="704193"/>
            <a:ext cx="11148353" cy="577083"/>
          </a:xfrm>
        </p:spPr>
        <p:txBody>
          <a:bodyPr>
            <a:normAutofit/>
          </a:bodyPr>
          <a:lstStyle/>
          <a:p>
            <a:r>
              <a:rPr lang="en-US" dirty="0"/>
              <a:t>Data Security Recommendation and Justification</a:t>
            </a:r>
          </a:p>
        </p:txBody>
      </p:sp>
      <p:graphicFrame>
        <p:nvGraphicFramePr>
          <p:cNvPr id="5" name="Content Placeholder 4">
            <a:extLst>
              <a:ext uri="{FF2B5EF4-FFF2-40B4-BE49-F238E27FC236}">
                <a16:creationId xmlns:a16="http://schemas.microsoft.com/office/drawing/2014/main" id="{E8BF19E4-F8EA-F557-D305-1ABE61FE8955}"/>
              </a:ext>
            </a:extLst>
          </p:cNvPr>
          <p:cNvGraphicFramePr>
            <a:graphicFrameLocks noGrp="1"/>
          </p:cNvGraphicFramePr>
          <p:nvPr>
            <p:ph idx="1"/>
            <p:extLst>
              <p:ext uri="{D42A27DB-BD31-4B8C-83A1-F6EECF244321}">
                <p14:modId xmlns:p14="http://schemas.microsoft.com/office/powerpoint/2010/main" val="1666845292"/>
              </p:ext>
            </p:extLst>
          </p:nvPr>
        </p:nvGraphicFramePr>
        <p:xfrm>
          <a:off x="521822" y="1298194"/>
          <a:ext cx="11029950" cy="4150360"/>
        </p:xfrm>
        <a:graphic>
          <a:graphicData uri="http://schemas.openxmlformats.org/drawingml/2006/table">
            <a:tbl>
              <a:tblPr firstRow="1" bandRow="1">
                <a:tableStyleId>{5C22544A-7EE6-4342-B048-85BDC9FD1C3A}</a:tableStyleId>
              </a:tblPr>
              <a:tblGrid>
                <a:gridCol w="3676650">
                  <a:extLst>
                    <a:ext uri="{9D8B030D-6E8A-4147-A177-3AD203B41FA5}">
                      <a16:colId xmlns:a16="http://schemas.microsoft.com/office/drawing/2014/main" val="4265036279"/>
                    </a:ext>
                  </a:extLst>
                </a:gridCol>
                <a:gridCol w="3676650">
                  <a:extLst>
                    <a:ext uri="{9D8B030D-6E8A-4147-A177-3AD203B41FA5}">
                      <a16:colId xmlns:a16="http://schemas.microsoft.com/office/drawing/2014/main" val="289916465"/>
                    </a:ext>
                  </a:extLst>
                </a:gridCol>
                <a:gridCol w="3676650">
                  <a:extLst>
                    <a:ext uri="{9D8B030D-6E8A-4147-A177-3AD203B41FA5}">
                      <a16:colId xmlns:a16="http://schemas.microsoft.com/office/drawing/2014/main" val="2944848153"/>
                    </a:ext>
                  </a:extLst>
                </a:gridCol>
              </a:tblGrid>
              <a:tr h="370840">
                <a:tc>
                  <a:txBody>
                    <a:bodyPr/>
                    <a:lstStyle/>
                    <a:p>
                      <a:r>
                        <a:rPr lang="en-US" dirty="0"/>
                        <a:t>Classification</a:t>
                      </a:r>
                    </a:p>
                  </a:txBody>
                  <a:tcPr/>
                </a:tc>
                <a:tc>
                  <a:txBody>
                    <a:bodyPr/>
                    <a:lstStyle/>
                    <a:p>
                      <a:r>
                        <a:rPr lang="en-US" dirty="0"/>
                        <a:t>Security Recommendation</a:t>
                      </a:r>
                    </a:p>
                  </a:txBody>
                  <a:tcPr/>
                </a:tc>
                <a:tc>
                  <a:txBody>
                    <a:bodyPr/>
                    <a:lstStyle/>
                    <a:p>
                      <a:r>
                        <a:rPr lang="en-US" dirty="0"/>
                        <a:t>Justification</a:t>
                      </a:r>
                    </a:p>
                  </a:txBody>
                  <a:tcPr/>
                </a:tc>
                <a:extLst>
                  <a:ext uri="{0D108BD9-81ED-4DB2-BD59-A6C34878D82A}">
                    <a16:rowId xmlns:a16="http://schemas.microsoft.com/office/drawing/2014/main" val="2032577328"/>
                  </a:ext>
                </a:extLst>
              </a:tr>
              <a:tr h="370840">
                <a:tc>
                  <a:txBody>
                    <a:bodyPr/>
                    <a:lstStyle/>
                    <a:p>
                      <a:r>
                        <a:rPr lang="en-US" sz="1600" dirty="0"/>
                        <a:t>Public</a:t>
                      </a:r>
                    </a:p>
                  </a:txBody>
                  <a:tcPr/>
                </a:tc>
                <a:tc>
                  <a:txBody>
                    <a:bodyPr/>
                    <a:lstStyle/>
                    <a:p>
                      <a:pPr marL="285750" indent="-285750">
                        <a:buFont typeface="Arial" panose="020B0604020202020204" pitchFamily="34" charset="0"/>
                        <a:buChar char="•"/>
                      </a:pPr>
                      <a:r>
                        <a:rPr lang="en-US" sz="1600" dirty="0"/>
                        <a:t>Use Firewalls.</a:t>
                      </a:r>
                    </a:p>
                    <a:p>
                      <a:pPr marL="285750" indent="-285750">
                        <a:buFont typeface="Arial" panose="020B0604020202020204" pitchFamily="34" charset="0"/>
                        <a:buChar char="•"/>
                      </a:pPr>
                      <a:r>
                        <a:rPr lang="en-US" sz="1600" dirty="0"/>
                        <a:t>Provide Information for patients on how to protect their public data. </a:t>
                      </a:r>
                    </a:p>
                  </a:txBody>
                  <a:tcPr/>
                </a:tc>
                <a:tc>
                  <a:txBody>
                    <a:bodyPr/>
                    <a:lstStyle/>
                    <a:p>
                      <a:r>
                        <a:rPr lang="en-US" sz="1600" dirty="0"/>
                        <a:t>Ensures information integrity and prevents unauthorized modifications.</a:t>
                      </a:r>
                    </a:p>
                  </a:txBody>
                  <a:tcPr/>
                </a:tc>
                <a:extLst>
                  <a:ext uri="{0D108BD9-81ED-4DB2-BD59-A6C34878D82A}">
                    <a16:rowId xmlns:a16="http://schemas.microsoft.com/office/drawing/2014/main" val="673005334"/>
                  </a:ext>
                </a:extLst>
              </a:tr>
              <a:tr h="370840">
                <a:tc>
                  <a:txBody>
                    <a:bodyPr/>
                    <a:lstStyle/>
                    <a:p>
                      <a:r>
                        <a:rPr lang="en-US" sz="1600" dirty="0"/>
                        <a:t>Internal</a:t>
                      </a:r>
                    </a:p>
                  </a:txBody>
                  <a:tcPr/>
                </a:tc>
                <a:tc>
                  <a:txBody>
                    <a:bodyPr/>
                    <a:lstStyle/>
                    <a:p>
                      <a:pPr marL="285750" indent="-285750">
                        <a:buFont typeface="Arial" panose="020B0604020202020204" pitchFamily="34" charset="0"/>
                        <a:buChar char="•"/>
                      </a:pPr>
                      <a:r>
                        <a:rPr lang="en-US" sz="1600" dirty="0"/>
                        <a:t>Role-Based Access Control.</a:t>
                      </a:r>
                    </a:p>
                    <a:p>
                      <a:pPr marL="285750" indent="-285750">
                        <a:buFont typeface="Arial" panose="020B0604020202020204" pitchFamily="34" charset="0"/>
                        <a:buChar char="•"/>
                      </a:pPr>
                      <a:r>
                        <a:rPr lang="en-US" sz="1600" dirty="0"/>
                        <a:t>Virtual Private Networks.</a:t>
                      </a:r>
                    </a:p>
                    <a:p>
                      <a:pPr marL="285750" indent="-285750">
                        <a:buFont typeface="Arial" panose="020B0604020202020204" pitchFamily="34" charset="0"/>
                        <a:buChar char="•"/>
                      </a:pPr>
                      <a:r>
                        <a:rPr lang="en-US" sz="1600" dirty="0"/>
                        <a:t>Multi-Factor Authentication.</a:t>
                      </a:r>
                    </a:p>
                  </a:txBody>
                  <a:tcPr/>
                </a:tc>
                <a:tc>
                  <a:txBody>
                    <a:bodyPr/>
                    <a:lstStyle/>
                    <a:p>
                      <a:r>
                        <a:rPr lang="en-US" sz="1600" dirty="0"/>
                        <a:t>It protects patient and employee data from unauthorized access, aligning with the HIPAA Privacy Rule.</a:t>
                      </a:r>
                    </a:p>
                  </a:txBody>
                  <a:tcPr/>
                </a:tc>
                <a:extLst>
                  <a:ext uri="{0D108BD9-81ED-4DB2-BD59-A6C34878D82A}">
                    <a16:rowId xmlns:a16="http://schemas.microsoft.com/office/drawing/2014/main" val="3318212584"/>
                  </a:ext>
                </a:extLst>
              </a:tr>
              <a:tr h="370840">
                <a:tc>
                  <a:txBody>
                    <a:bodyPr/>
                    <a:lstStyle/>
                    <a:p>
                      <a:r>
                        <a:rPr lang="en-US" sz="1600" dirty="0"/>
                        <a:t>Classified</a:t>
                      </a:r>
                    </a:p>
                  </a:txBody>
                  <a:tcPr/>
                </a:tc>
                <a:tc>
                  <a:txBody>
                    <a:bodyPr/>
                    <a:lstStyle/>
                    <a:p>
                      <a:pPr marL="285750" indent="-285750">
                        <a:buFont typeface="Arial" panose="020B0604020202020204" pitchFamily="34" charset="0"/>
                        <a:buChar char="•"/>
                      </a:pPr>
                      <a:r>
                        <a:rPr lang="en-US" sz="1600" dirty="0"/>
                        <a:t>End-to-End Encryption.</a:t>
                      </a:r>
                    </a:p>
                    <a:p>
                      <a:pPr marL="285750" indent="-285750">
                        <a:buFont typeface="Arial" panose="020B0604020202020204" pitchFamily="34" charset="0"/>
                        <a:buChar char="•"/>
                      </a:pPr>
                      <a:r>
                        <a:rPr lang="en-US" sz="1600" dirty="0"/>
                        <a:t>Tokenization for payment data.</a:t>
                      </a:r>
                    </a:p>
                    <a:p>
                      <a:pPr marL="285750" indent="-285750">
                        <a:buFont typeface="Arial" panose="020B0604020202020204" pitchFamily="34" charset="0"/>
                        <a:buChar char="•"/>
                      </a:pPr>
                      <a:r>
                        <a:rPr lang="en-US" sz="1600" dirty="0"/>
                        <a:t>Secure data transmission.</a:t>
                      </a:r>
                    </a:p>
                  </a:txBody>
                  <a:tcPr/>
                </a:tc>
                <a:tc>
                  <a:txBody>
                    <a:bodyPr/>
                    <a:lstStyle/>
                    <a:p>
                      <a:r>
                        <a:rPr lang="en-US" sz="1600" dirty="0"/>
                        <a:t>Meets HIPAA Security Rule for financial and insurance data protection.</a:t>
                      </a:r>
                    </a:p>
                  </a:txBody>
                  <a:tcPr/>
                </a:tc>
                <a:extLst>
                  <a:ext uri="{0D108BD9-81ED-4DB2-BD59-A6C34878D82A}">
                    <a16:rowId xmlns:a16="http://schemas.microsoft.com/office/drawing/2014/main" val="1257116493"/>
                  </a:ext>
                </a:extLst>
              </a:tr>
              <a:tr h="370840">
                <a:tc>
                  <a:txBody>
                    <a:bodyPr/>
                    <a:lstStyle/>
                    <a:p>
                      <a:r>
                        <a:rPr lang="en-US" sz="1600" dirty="0"/>
                        <a:t>Private</a:t>
                      </a:r>
                    </a:p>
                  </a:txBody>
                  <a:tcPr/>
                </a:tc>
                <a:tc>
                  <a:txBody>
                    <a:bodyPr/>
                    <a:lstStyle/>
                    <a:p>
                      <a:pPr marL="285750" indent="-285750">
                        <a:buFont typeface="Arial" panose="020B0604020202020204" pitchFamily="34" charset="0"/>
                        <a:buChar char="•"/>
                      </a:pPr>
                      <a:r>
                        <a:rPr lang="en-US" sz="1600" dirty="0"/>
                        <a:t>HIPAA-compliant access controls.</a:t>
                      </a:r>
                    </a:p>
                    <a:p>
                      <a:pPr marL="285750" indent="-285750">
                        <a:buFont typeface="Arial" panose="020B0604020202020204" pitchFamily="34" charset="0"/>
                        <a:buChar char="•"/>
                      </a:pPr>
                      <a:r>
                        <a:rPr lang="en-US" sz="1600" dirty="0"/>
                        <a:t>Data Loss Prevention tool.</a:t>
                      </a:r>
                    </a:p>
                    <a:p>
                      <a:pPr marL="285750" indent="-285750">
                        <a:buFont typeface="Arial" panose="020B0604020202020204" pitchFamily="34" charset="0"/>
                        <a:buChar char="•"/>
                      </a:pPr>
                      <a:r>
                        <a:rPr lang="en-US" sz="1600" dirty="0"/>
                        <a:t>Encrypt data at rest.</a:t>
                      </a:r>
                    </a:p>
                    <a:p>
                      <a:pPr marL="285750" indent="-285750">
                        <a:buFont typeface="Arial" panose="020B0604020202020204" pitchFamily="34" charset="0"/>
                        <a:buChar char="•"/>
                      </a:pPr>
                      <a:r>
                        <a:rPr lang="en-US" sz="1600" dirty="0"/>
                        <a:t>Biometric access controls.</a:t>
                      </a:r>
                    </a:p>
                  </a:txBody>
                  <a:tcPr/>
                </a:tc>
                <a:tc>
                  <a:txBody>
                    <a:bodyPr/>
                    <a:lstStyle/>
                    <a:p>
                      <a:r>
                        <a:rPr lang="en-US" sz="1600" dirty="0"/>
                        <a:t>Ensures confidentiality and integrity of Protected Health Information (PHI) under HIPAA Security &amp; Privacy Rules.</a:t>
                      </a:r>
                    </a:p>
                  </a:txBody>
                  <a:tcPr/>
                </a:tc>
                <a:extLst>
                  <a:ext uri="{0D108BD9-81ED-4DB2-BD59-A6C34878D82A}">
                    <a16:rowId xmlns:a16="http://schemas.microsoft.com/office/drawing/2014/main" val="2000389702"/>
                  </a:ext>
                </a:extLst>
              </a:tr>
            </a:tbl>
          </a:graphicData>
        </a:graphic>
      </p:graphicFrame>
      <p:sp>
        <p:nvSpPr>
          <p:cNvPr id="4" name="Slide Number Placeholder 3">
            <a:extLst>
              <a:ext uri="{FF2B5EF4-FFF2-40B4-BE49-F238E27FC236}">
                <a16:creationId xmlns:a16="http://schemas.microsoft.com/office/drawing/2014/main" id="{CE340667-054B-4349-4EB7-B50AAF39A068}"/>
              </a:ext>
            </a:extLst>
          </p:cNvPr>
          <p:cNvSpPr>
            <a:spLocks noGrp="1"/>
          </p:cNvSpPr>
          <p:nvPr>
            <p:ph type="sldNum" sz="quarter" idx="12"/>
          </p:nvPr>
        </p:nvSpPr>
        <p:spPr/>
        <p:txBody>
          <a:bodyPr/>
          <a:lstStyle/>
          <a:p>
            <a:fld id="{3A98EE3D-8CD1-4C3F-BD1C-C98C9596463C}" type="slidenum">
              <a:rPr lang="en-US" smtClean="0"/>
              <a:pPr/>
              <a:t>11</a:t>
            </a:fld>
            <a:endParaRPr lang="en-US" dirty="0"/>
          </a:p>
        </p:txBody>
      </p:sp>
    </p:spTree>
    <p:extLst>
      <p:ext uri="{BB962C8B-B14F-4D97-AF65-F5344CB8AC3E}">
        <p14:creationId xmlns:p14="http://schemas.microsoft.com/office/powerpoint/2010/main" val="3178314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E6A38-B144-A5DD-78BC-27D80E2613D0}"/>
              </a:ext>
            </a:extLst>
          </p:cNvPr>
          <p:cNvSpPr>
            <a:spLocks noGrp="1"/>
          </p:cNvSpPr>
          <p:nvPr>
            <p:ph type="title"/>
          </p:nvPr>
        </p:nvSpPr>
        <p:spPr>
          <a:xfrm>
            <a:off x="581192" y="702156"/>
            <a:ext cx="11029616" cy="1188720"/>
          </a:xfrm>
        </p:spPr>
        <p:txBody>
          <a:bodyPr>
            <a:normAutofit/>
          </a:bodyPr>
          <a:lstStyle/>
          <a:p>
            <a:r>
              <a:rPr lang="en-US"/>
              <a:t>conclusion</a:t>
            </a:r>
          </a:p>
        </p:txBody>
      </p:sp>
      <p:sp>
        <p:nvSpPr>
          <p:cNvPr id="4" name="Slide Number Placeholder 3">
            <a:extLst>
              <a:ext uri="{FF2B5EF4-FFF2-40B4-BE49-F238E27FC236}">
                <a16:creationId xmlns:a16="http://schemas.microsoft.com/office/drawing/2014/main" id="{3DA97392-AB31-77DD-544B-2D8D5F16FFFD}"/>
              </a:ext>
            </a:extLst>
          </p:cNvPr>
          <p:cNvSpPr>
            <a:spLocks noGrp="1"/>
          </p:cNvSpPr>
          <p:nvPr>
            <p:ph type="sldNum" sz="quarter" idx="12"/>
          </p:nvPr>
        </p:nvSpPr>
        <p:spPr>
          <a:xfrm>
            <a:off x="10558300" y="6423914"/>
            <a:ext cx="1052510" cy="365125"/>
          </a:xfrm>
        </p:spPr>
        <p:txBody>
          <a:bodyPr>
            <a:normAutofit/>
          </a:bodyPr>
          <a:lstStyle/>
          <a:p>
            <a:pPr>
              <a:spcAft>
                <a:spcPts val="600"/>
              </a:spcAft>
            </a:pPr>
            <a:fld id="{3A98EE3D-8CD1-4C3F-BD1C-C98C9596463C}" type="slidenum">
              <a:rPr lang="en-US" smtClean="0"/>
              <a:pPr>
                <a:spcAft>
                  <a:spcPts val="600"/>
                </a:spcAft>
              </a:pPr>
              <a:t>12</a:t>
            </a:fld>
            <a:endParaRPr lang="en-US"/>
          </a:p>
        </p:txBody>
      </p:sp>
      <p:graphicFrame>
        <p:nvGraphicFramePr>
          <p:cNvPr id="6" name="Content Placeholder 2">
            <a:extLst>
              <a:ext uri="{FF2B5EF4-FFF2-40B4-BE49-F238E27FC236}">
                <a16:creationId xmlns:a16="http://schemas.microsoft.com/office/drawing/2014/main" id="{CBA82999-A5D5-BAF7-F6FB-A97360E2F146}"/>
              </a:ext>
            </a:extLst>
          </p:cNvPr>
          <p:cNvGraphicFramePr>
            <a:graphicFrameLocks noGrp="1"/>
          </p:cNvGraphicFramePr>
          <p:nvPr>
            <p:ph idx="1"/>
            <p:extLst>
              <p:ext uri="{D42A27DB-BD31-4B8C-83A1-F6EECF244321}">
                <p14:modId xmlns:p14="http://schemas.microsoft.com/office/powerpoint/2010/main" val="1993663655"/>
              </p:ext>
            </p:extLst>
          </p:nvPr>
        </p:nvGraphicFramePr>
        <p:xfrm>
          <a:off x="581025" y="2341563"/>
          <a:ext cx="11029950" cy="3814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980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057A-84B2-4D90-79D6-00BF7ED960F3}"/>
              </a:ext>
            </a:extLst>
          </p:cNvPr>
          <p:cNvSpPr>
            <a:spLocks noGrp="1"/>
          </p:cNvSpPr>
          <p:nvPr>
            <p:ph type="title"/>
          </p:nvPr>
        </p:nvSpPr>
        <p:spPr>
          <a:xfrm>
            <a:off x="581192" y="882650"/>
            <a:ext cx="11029616" cy="703207"/>
          </a:xfrm>
        </p:spPr>
        <p:txBody>
          <a:bodyPr/>
          <a:lstStyle/>
          <a:p>
            <a:r>
              <a:rPr lang="en-US"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58B2DE5D-6BB4-4413-B345-F8E061636807}"/>
              </a:ext>
            </a:extLst>
          </p:cNvPr>
          <p:cNvSpPr>
            <a:spLocks noGrp="1"/>
          </p:cNvSpPr>
          <p:nvPr>
            <p:ph idx="1"/>
          </p:nvPr>
        </p:nvSpPr>
        <p:spPr>
          <a:xfrm>
            <a:off x="581193" y="2187642"/>
            <a:ext cx="11029615" cy="3634486"/>
          </a:xfrm>
        </p:spPr>
        <p:txBody>
          <a:bodyPr/>
          <a:lstStyle/>
          <a:p>
            <a:r>
              <a:rPr lang="en-US" dirty="0"/>
              <a:t>Care at Home - Care At Home. (2024, June 3). Care at Home. </a:t>
            </a:r>
            <a:r>
              <a:rPr lang="en-US" dirty="0">
                <a:hlinkClick r:id="rId2"/>
              </a:rPr>
              <a:t>https://careathomellc.com</a:t>
            </a:r>
            <a:endParaRPr lang="en-US" dirty="0"/>
          </a:p>
          <a:p>
            <a:r>
              <a:rPr lang="en-US" dirty="0"/>
              <a:t>U.S. Department of Health &amp; Human Services. (2024). The HIPAA Privacy Rule. </a:t>
            </a:r>
            <a:r>
              <a:rPr lang="en-US" dirty="0" err="1"/>
              <a:t>HHS.gov</a:t>
            </a:r>
            <a:r>
              <a:rPr lang="en-US" dirty="0"/>
              <a:t>. https://</a:t>
            </a:r>
            <a:r>
              <a:rPr lang="en-US" dirty="0" err="1"/>
              <a:t>www.hhs.gov</a:t>
            </a:r>
            <a:r>
              <a:rPr lang="en-US" dirty="0"/>
              <a:t>/</a:t>
            </a:r>
            <a:r>
              <a:rPr lang="en-US" dirty="0" err="1"/>
              <a:t>hipaa</a:t>
            </a:r>
            <a:r>
              <a:rPr lang="en-US" dirty="0"/>
              <a:t>/for-professionals/privacy/</a:t>
            </a:r>
            <a:r>
              <a:rPr lang="en-US" dirty="0" err="1"/>
              <a:t>index.html</a:t>
            </a:r>
            <a:endParaRPr lang="en-US" dirty="0"/>
          </a:p>
        </p:txBody>
      </p:sp>
      <p:sp>
        <p:nvSpPr>
          <p:cNvPr id="4" name="Slide Number Placeholder 3">
            <a:extLst>
              <a:ext uri="{FF2B5EF4-FFF2-40B4-BE49-F238E27FC236}">
                <a16:creationId xmlns:a16="http://schemas.microsoft.com/office/drawing/2014/main" id="{A040E3E6-DC1F-43F3-A426-50D10E19A1DC}"/>
              </a:ext>
            </a:extLst>
          </p:cNvPr>
          <p:cNvSpPr>
            <a:spLocks noGrp="1"/>
          </p:cNvSpPr>
          <p:nvPr>
            <p:ph type="sldNum" sz="quarter" idx="12"/>
          </p:nvPr>
        </p:nvSpPr>
        <p:spPr/>
        <p:txBody>
          <a:bodyPr/>
          <a:lstStyle/>
          <a:p>
            <a:fld id="{3A98EE3D-8CD1-4C3F-BD1C-C98C9596463C}" type="slidenum">
              <a:rPr lang="en-US" smtClean="0"/>
              <a:pPr/>
              <a:t>13</a:t>
            </a:fld>
            <a:endParaRPr lang="en-US" dirty="0"/>
          </a:p>
        </p:txBody>
      </p:sp>
    </p:spTree>
    <p:extLst>
      <p:ext uri="{BB962C8B-B14F-4D97-AF65-F5344CB8AC3E}">
        <p14:creationId xmlns:p14="http://schemas.microsoft.com/office/powerpoint/2010/main" val="202404085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1811</TotalTime>
  <Words>1051</Words>
  <Application>Microsoft Macintosh PowerPoint</Application>
  <PresentationFormat>Widescreen</PresentationFormat>
  <Paragraphs>187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Avenir Next LT Pro</vt:lpstr>
      <vt:lpstr>Gill Sans MT</vt:lpstr>
      <vt:lpstr>Wingdings 2</vt:lpstr>
      <vt:lpstr>DividendVTI</vt:lpstr>
      <vt:lpstr>Care At Home:   Data Classification Standards &amp; Risk Methodology</vt:lpstr>
      <vt:lpstr>Table of contents</vt:lpstr>
      <vt:lpstr>Introduction</vt:lpstr>
      <vt:lpstr>Company Background</vt:lpstr>
      <vt:lpstr>Purpose of Data classification standards</vt:lpstr>
      <vt:lpstr>Data Categorization </vt:lpstr>
      <vt:lpstr>Data Categorization </vt:lpstr>
      <vt:lpstr>Data Categorization </vt:lpstr>
      <vt:lpstr>Data Classification Standards  </vt:lpstr>
      <vt:lpstr>Data Classification Standards  </vt:lpstr>
      <vt:lpstr>Data Security Recommendation and Justification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Sien Tam</dc:creator>
  <cp:lastModifiedBy>Toyinbo, Mayowa V</cp:lastModifiedBy>
  <cp:revision>178</cp:revision>
  <dcterms:created xsi:type="dcterms:W3CDTF">2024-03-03T22:19:39Z</dcterms:created>
  <dcterms:modified xsi:type="dcterms:W3CDTF">2025-11-24T18:36:08Z</dcterms:modified>
</cp:coreProperties>
</file>